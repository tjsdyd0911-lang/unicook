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0" r:id="rId3"/>
    <p:sldId id="257" r:id="rId4"/>
    <p:sldId id="258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AE0"/>
    <a:srgbClr val="F5F2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>
        <p:scale>
          <a:sx n="100" d="100"/>
          <a:sy n="100" d="100"/>
        </p:scale>
        <p:origin x="72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3B205-14BE-4F53-880B-78BEEA2A2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07C854-EAB7-4472-9322-7E29611EA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06E68F-03C7-4330-A1FA-B0F437DD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F248B7-0FE7-473C-A10F-1CCA62496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D0AC1C-9E3C-4456-B05E-FFBA7F82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970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B23D9-58F0-4CB2-BEF7-E04AAF844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19C57C-D951-4CC3-879D-61C7DF280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0CCD-CE00-4F8E-B5D0-A19D0128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9C02D1-5B54-4E2E-A731-2ADBD5521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DC1022-CF64-426F-9ECB-A02177EE3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709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0550-96B0-495F-B322-25ABFEF6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1D3512-8674-46D8-9715-6550FB274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348868-42CD-40D6-9809-C766C1EF8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025E81-5AC7-4C73-8527-4274755C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38B2B8-170C-47F8-A312-EB9A7A66D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044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7E9C29-344C-4A26-B3B8-9E440C46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4541F2-6CBF-41B4-AF8E-145E146FE2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A20B8-9D72-490C-8358-D0694F26D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C1297C-7D8F-4422-91BC-FBB15C9CA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4C61F7-9363-42E2-87AD-ED6EB3B5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247792-58F0-4248-AD7E-363699A0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034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E3C0B-461E-4DDD-8217-2AFC1DF4E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6A5440-7F58-46D3-BCC9-D976D1B07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389155-0E18-4891-A5AE-165351629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395A57-0FE1-4A91-ABC6-DEBB8F98D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70557A-8AFB-42D0-A48E-790F8C5C5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22F4390-CE62-4984-9C54-53FBA035B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882A87E-F14E-42DF-B9C8-3EE697921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416D3E-C2D9-42D7-9FFD-F0F6B86E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807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25ED8-A957-4947-8B6F-08B603E7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079945-2B75-4F7B-83AF-F7841833F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691875-48EA-48F4-AF6A-A6B589A8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D66DEE-5C5A-4EBC-AEBC-92D7647E8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425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B6C4C6-1497-47A3-8EEB-304970D41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8F8ECD-9325-4C95-95AD-980F4D081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AD5126-A601-4622-B35D-4F466AF3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04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8CC69-2709-4ABE-9F9D-A0DEE1684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99D380-79FB-4298-94F5-22E95658F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890507-434A-47B9-B862-3C8FF305E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2CBB3F-3B81-44D6-ACB5-B0B4628F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83E7F3-39B5-44A0-B755-0B2EB7918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8374C9-B9CE-43FA-A915-D59F01C67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70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CA5D6-B3F2-48D6-9568-560F9E61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5E16B2D-08F6-4B4F-8C7C-7AD78FDE5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93372D-4408-4E54-9009-5F914A9C8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66BB2E-A4DD-4BE8-A357-59C46F65F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90AC45-D216-43DC-AAE0-9BC2717A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9C819A-27AB-467A-A7C1-5E8AF6430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873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A897D-AE87-443F-ABB8-5B13EBD8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D2FAD9-6F52-437E-9F26-EAD45616D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B09F92-2DCC-4655-9B8A-67EF7AE64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07EFF-6230-45B4-AF67-9D128B647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C055C8-3244-4BC0-809A-11AE41B4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157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F8B1D31-5490-43E5-8650-8C8058B3DD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50A1F2-786D-46FC-9DB3-0E081A2AB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DF3688-FD0B-4B6F-AA31-E89610BEA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C459-080F-4BE7-8696-F64341D6D4AD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B510F9-79AC-4D0D-BE81-1B53A1F32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7CD82B-CF86-4B6F-A214-65A4490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915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9220231-66DB-4976-8C94-E13D2D1FE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A1EBA3-4EEE-4758-8CD9-27AA04BE8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FFF815-1BA9-4815-8D8A-8D7F51228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AC459-080F-4BE7-8696-F64341D6D4AD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39E781-68BA-44C1-B394-12008B223B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438A87-1E8B-4933-9EC1-507565A26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EF2D2-5A6B-49D6-8D59-E472C90E8F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615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slide" Target="slide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3211709D-379F-4681-848A-CDB5242FA175}"/>
              </a:ext>
            </a:extLst>
          </p:cNvPr>
          <p:cNvGrpSpPr/>
          <p:nvPr/>
        </p:nvGrpSpPr>
        <p:grpSpPr>
          <a:xfrm>
            <a:off x="93162" y="55746"/>
            <a:ext cx="6118971" cy="6778251"/>
            <a:chOff x="5210836" y="217120"/>
            <a:chExt cx="5978660" cy="6778251"/>
          </a:xfrm>
        </p:grpSpPr>
        <p:pic>
          <p:nvPicPr>
            <p:cNvPr id="76" name="그림 75">
              <a:hlinkClick r:id="rId2" action="ppaction://hlinksldjump"/>
              <a:extLst>
                <a:ext uri="{FF2B5EF4-FFF2-40B4-BE49-F238E27FC236}">
                  <a16:creationId xmlns:a16="http://schemas.microsoft.com/office/drawing/2014/main" id="{570FBFF2-3499-4F3C-93A7-8623012A54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13" b="86937"/>
            <a:stretch/>
          </p:blipFill>
          <p:spPr>
            <a:xfrm>
              <a:off x="5217076" y="217120"/>
              <a:ext cx="5968191" cy="808547"/>
            </a:xfrm>
            <a:prstGeom prst="rect">
              <a:avLst/>
            </a:prstGeom>
          </p:spPr>
        </p:pic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1FAD5A82-DE2D-4411-9807-A0601887B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0836" y="6215841"/>
              <a:ext cx="5975024" cy="779530"/>
            </a:xfrm>
            <a:prstGeom prst="rect">
              <a:avLst/>
            </a:prstGeom>
          </p:spPr>
        </p:pic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2CC07F48-5740-4AC7-AD90-3BEFE4B26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14251" y="3407398"/>
              <a:ext cx="5973839" cy="555930"/>
            </a:xfrm>
            <a:prstGeom prst="rect">
              <a:avLst/>
            </a:prstGeom>
          </p:spPr>
        </p:pic>
        <p:pic>
          <p:nvPicPr>
            <p:cNvPr id="79" name="그림 78">
              <a:hlinkClick r:id="rId2" action="ppaction://hlinksldjump"/>
              <a:extLst>
                <a:ext uri="{FF2B5EF4-FFF2-40B4-BE49-F238E27FC236}">
                  <a16:creationId xmlns:a16="http://schemas.microsoft.com/office/drawing/2014/main" id="{327EBECC-98DD-47CB-98FD-9A4976B13C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2145" b="38462"/>
            <a:stretch/>
          </p:blipFill>
          <p:spPr>
            <a:xfrm>
              <a:off x="5211666" y="1018365"/>
              <a:ext cx="5975024" cy="2395049"/>
            </a:xfrm>
            <a:prstGeom prst="rect">
              <a:avLst/>
            </a:prstGeom>
          </p:spPr>
        </p:pic>
        <p:pic>
          <p:nvPicPr>
            <p:cNvPr id="80" name="그림 79">
              <a:hlinkClick r:id="rId2" action="ppaction://hlinksldjump"/>
              <a:extLst>
                <a:ext uri="{FF2B5EF4-FFF2-40B4-BE49-F238E27FC236}">
                  <a16:creationId xmlns:a16="http://schemas.microsoft.com/office/drawing/2014/main" id="{6F835496-5F68-42ED-BC98-57F9E10064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2016" b="733"/>
            <a:stretch/>
          </p:blipFill>
          <p:spPr>
            <a:xfrm>
              <a:off x="5214472" y="3939252"/>
              <a:ext cx="5975024" cy="2264909"/>
            </a:xfrm>
            <a:prstGeom prst="rect">
              <a:avLst/>
            </a:prstGeom>
          </p:spPr>
        </p:pic>
      </p:grp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62295BF-39D1-4B52-9A86-82682C28151F}"/>
              </a:ext>
            </a:extLst>
          </p:cNvPr>
          <p:cNvSpPr/>
          <p:nvPr/>
        </p:nvSpPr>
        <p:spPr>
          <a:xfrm>
            <a:off x="6356424" y="91744"/>
            <a:ext cx="258173" cy="268369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3C2AEA0-AD55-44C3-B4B4-854E21BED08A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6067842" y="198485"/>
            <a:ext cx="288582" cy="2744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CD816B4B-A219-4169-8162-77593D561A91}"/>
              </a:ext>
            </a:extLst>
          </p:cNvPr>
          <p:cNvSpPr/>
          <p:nvPr/>
        </p:nvSpPr>
        <p:spPr>
          <a:xfrm>
            <a:off x="6273471" y="1451520"/>
            <a:ext cx="258173" cy="268369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C35C27A-7BDB-4D43-9FDA-EEB39B3B40FF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6096000" y="1585705"/>
            <a:ext cx="177471" cy="6894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4364400A-35AC-44D4-93BA-1E4681ED0767}"/>
              </a:ext>
            </a:extLst>
          </p:cNvPr>
          <p:cNvCxnSpPr>
            <a:cxnSpLocks/>
          </p:cNvCxnSpPr>
          <p:nvPr/>
        </p:nvCxnSpPr>
        <p:spPr>
          <a:xfrm flipH="1">
            <a:off x="6112129" y="4205645"/>
            <a:ext cx="258367" cy="38272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3" name="그림 82">
            <a:extLst>
              <a:ext uri="{FF2B5EF4-FFF2-40B4-BE49-F238E27FC236}">
                <a16:creationId xmlns:a16="http://schemas.microsoft.com/office/drawing/2014/main" id="{4F24B717-03E8-4750-B9BB-1BFE49A85DE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795"/>
          <a:stretch/>
        </p:blipFill>
        <p:spPr>
          <a:xfrm>
            <a:off x="6228262" y="4588041"/>
            <a:ext cx="2754252" cy="150690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B4E05DD-30DF-498E-9AFF-9D27C6394080}"/>
              </a:ext>
            </a:extLst>
          </p:cNvPr>
          <p:cNvCxnSpPr>
            <a:cxnSpLocks/>
            <a:stCxn id="84" idx="3"/>
            <a:endCxn id="88" idx="1"/>
          </p:cNvCxnSpPr>
          <p:nvPr/>
        </p:nvCxnSpPr>
        <p:spPr>
          <a:xfrm>
            <a:off x="6095999" y="2775715"/>
            <a:ext cx="1380302" cy="50027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F34C4F4B-EDAA-4BCF-940D-7C66CC06D802}"/>
              </a:ext>
            </a:extLst>
          </p:cNvPr>
          <p:cNvSpPr/>
          <p:nvPr/>
        </p:nvSpPr>
        <p:spPr>
          <a:xfrm>
            <a:off x="7476301" y="3141802"/>
            <a:ext cx="258173" cy="268369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5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A1B71F9F-891D-489F-B086-B3ED3AE23413}"/>
              </a:ext>
            </a:extLst>
          </p:cNvPr>
          <p:cNvCxnSpPr>
            <a:cxnSpLocks/>
            <a:stCxn id="88" idx="2"/>
            <a:endCxn id="83" idx="0"/>
          </p:cNvCxnSpPr>
          <p:nvPr/>
        </p:nvCxnSpPr>
        <p:spPr>
          <a:xfrm>
            <a:off x="7605388" y="3410171"/>
            <a:ext cx="0" cy="117787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6E7446D-1803-45EA-9F6C-2E0345ED3CF3}"/>
              </a:ext>
            </a:extLst>
          </p:cNvPr>
          <p:cNvSpPr/>
          <p:nvPr/>
        </p:nvSpPr>
        <p:spPr>
          <a:xfrm>
            <a:off x="5544191" y="120875"/>
            <a:ext cx="523650" cy="155221"/>
          </a:xfrm>
          <a:prstGeom prst="roundRect">
            <a:avLst>
              <a:gd name="adj" fmla="val 49308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454DB67-552E-4CE7-B337-0FB79261EF80}"/>
              </a:ext>
            </a:extLst>
          </p:cNvPr>
          <p:cNvSpPr/>
          <p:nvPr/>
        </p:nvSpPr>
        <p:spPr>
          <a:xfrm>
            <a:off x="5255442" y="112462"/>
            <a:ext cx="268055" cy="155221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684755C-5518-4481-88F8-094EF0E9DB1B}"/>
              </a:ext>
            </a:extLst>
          </p:cNvPr>
          <p:cNvCxnSpPr>
            <a:cxnSpLocks/>
            <a:stCxn id="42" idx="3"/>
            <a:endCxn id="38" idx="1"/>
          </p:cNvCxnSpPr>
          <p:nvPr/>
        </p:nvCxnSpPr>
        <p:spPr>
          <a:xfrm>
            <a:off x="5112287" y="186355"/>
            <a:ext cx="143155" cy="371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320430B-DE30-42C9-A3B2-2FDF6A88C333}"/>
              </a:ext>
            </a:extLst>
          </p:cNvPr>
          <p:cNvSpPr/>
          <p:nvPr/>
        </p:nvSpPr>
        <p:spPr>
          <a:xfrm>
            <a:off x="4854114" y="67394"/>
            <a:ext cx="258173" cy="237922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06553CCD-ECF9-48B1-8045-81500A5EA9A7}"/>
              </a:ext>
            </a:extLst>
          </p:cNvPr>
          <p:cNvSpPr/>
          <p:nvPr/>
        </p:nvSpPr>
        <p:spPr>
          <a:xfrm>
            <a:off x="176431" y="1138378"/>
            <a:ext cx="5919569" cy="1032537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5096FC2E-8CB4-450B-AC35-0150A2579D9C}"/>
              </a:ext>
            </a:extLst>
          </p:cNvPr>
          <p:cNvSpPr/>
          <p:nvPr/>
        </p:nvSpPr>
        <p:spPr>
          <a:xfrm>
            <a:off x="176430" y="2391777"/>
            <a:ext cx="5919569" cy="767876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C3FFDB2-C0FE-4B15-9251-F434ADEF7597}"/>
              </a:ext>
            </a:extLst>
          </p:cNvPr>
          <p:cNvSpPr/>
          <p:nvPr/>
        </p:nvSpPr>
        <p:spPr>
          <a:xfrm>
            <a:off x="2197612" y="105619"/>
            <a:ext cx="1856714" cy="212793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B220FFF3-EF4B-4FD5-A3E7-BAE8F51DCA98}"/>
              </a:ext>
            </a:extLst>
          </p:cNvPr>
          <p:cNvCxnSpPr>
            <a:cxnSpLocks/>
            <a:endCxn id="104" idx="1"/>
          </p:cNvCxnSpPr>
          <p:nvPr/>
        </p:nvCxnSpPr>
        <p:spPr>
          <a:xfrm flipV="1">
            <a:off x="4055783" y="172943"/>
            <a:ext cx="76402" cy="3907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7AB42282-C07A-4649-A4B3-D8971C477504}"/>
              </a:ext>
            </a:extLst>
          </p:cNvPr>
          <p:cNvSpPr/>
          <p:nvPr/>
        </p:nvSpPr>
        <p:spPr>
          <a:xfrm>
            <a:off x="4132185" y="53982"/>
            <a:ext cx="258173" cy="237922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6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C05A81CD-BC8B-42C3-9BDF-BEE559D55042}"/>
              </a:ext>
            </a:extLst>
          </p:cNvPr>
          <p:cNvSpPr/>
          <p:nvPr/>
        </p:nvSpPr>
        <p:spPr>
          <a:xfrm>
            <a:off x="140043" y="3935364"/>
            <a:ext cx="5955956" cy="2092081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920E15E3-62F5-4C44-9D6B-39550BBFBB14}"/>
              </a:ext>
            </a:extLst>
          </p:cNvPr>
          <p:cNvSpPr/>
          <p:nvPr/>
        </p:nvSpPr>
        <p:spPr>
          <a:xfrm>
            <a:off x="93162" y="6073507"/>
            <a:ext cx="6070502" cy="705188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4D148E55-F4C8-432E-B276-1844B88B08D9}"/>
              </a:ext>
            </a:extLst>
          </p:cNvPr>
          <p:cNvCxnSpPr>
            <a:cxnSpLocks/>
            <a:stCxn id="112" idx="3"/>
            <a:endCxn id="58" idx="1"/>
          </p:cNvCxnSpPr>
          <p:nvPr/>
        </p:nvCxnSpPr>
        <p:spPr>
          <a:xfrm flipV="1">
            <a:off x="6163664" y="6382741"/>
            <a:ext cx="304553" cy="4336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A2453F2A-CBC0-4FAF-A890-94B2B40884DD}"/>
              </a:ext>
            </a:extLst>
          </p:cNvPr>
          <p:cNvSpPr/>
          <p:nvPr/>
        </p:nvSpPr>
        <p:spPr>
          <a:xfrm>
            <a:off x="6378921" y="3992049"/>
            <a:ext cx="258173" cy="268369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7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188B8F1-9B34-4306-A18E-DBF9CA6BA1A8}"/>
              </a:ext>
            </a:extLst>
          </p:cNvPr>
          <p:cNvSpPr/>
          <p:nvPr/>
        </p:nvSpPr>
        <p:spPr>
          <a:xfrm>
            <a:off x="9192031" y="1112813"/>
            <a:ext cx="2689173" cy="5120599"/>
          </a:xfrm>
          <a:prstGeom prst="roundRect">
            <a:avLst>
              <a:gd name="adj" fmla="val 5554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</a:t>
            </a: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모달창 생성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*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임의 계정 생성하여 로그인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*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회원가입 따로 만들지 않음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장바구니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페이지 이동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*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장바구니 버튼 로그인 시 활성화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</a:t>
            </a: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키워드에 맞는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상품 리스트 출력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</a:t>
            </a: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해당 상품의 상세페이지   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로 이동 </a:t>
            </a:r>
            <a:r>
              <a:rPr lang="en-US" altLang="ko-KR" sz="1000" b="1" dirty="0">
                <a:solidFill>
                  <a:schemeClr val="accent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000" b="1" kern="0" spc="0" dirty="0">
                <a:solidFill>
                  <a:schemeClr val="accent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시간대별 최다 구매</a:t>
            </a:r>
            <a:endParaRPr lang="ko-KR" altLang="en-US" sz="1000" b="1" kern="0" spc="0" dirty="0">
              <a:solidFill>
                <a:schemeClr val="accent1"/>
              </a:solidFill>
              <a:effectLst/>
              <a:latin typeface="한양신명조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코사인 유사도 알고리즘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이용한 콘텐츠 필터링으로 도출 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과정 출력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시간대별 추천 상품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검색 키워드에 맞는 상품 리스트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현재 화면에 출력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코사인 유사도 알고리즘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이용한 콘텐츠 필터링으로 도출 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과정 출력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맞춤형 상품 리스트</a:t>
            </a:r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-&gt;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클릭 시 해당 인기상품의  상세</a:t>
            </a:r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ko-KR" altLang="en-US" sz="1000" b="1" dirty="0">
                <a:latin typeface="굴림" panose="020B0600000101010101" pitchFamily="50" charset="-127"/>
                <a:ea typeface="굴림" panose="020B0600000101010101" pitchFamily="50" charset="-127"/>
              </a:rPr>
              <a:t>페이지로 이동 </a:t>
            </a:r>
            <a:r>
              <a:rPr lang="en-US" altLang="ko-KR" sz="1000" b="1" dirty="0">
                <a:solidFill>
                  <a:schemeClr val="accent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000" b="1" kern="0" spc="0" dirty="0">
                <a:solidFill>
                  <a:schemeClr val="accent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조회수</a:t>
            </a:r>
            <a:r>
              <a:rPr lang="en-US" altLang="ko-KR" sz="1000" b="1" kern="0" spc="0" dirty="0">
                <a:solidFill>
                  <a:schemeClr val="accent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+</a:t>
            </a:r>
            <a:r>
              <a:rPr lang="ko-KR" altLang="en-US" sz="1000" b="1" kern="0" spc="0" dirty="0" err="1">
                <a:solidFill>
                  <a:schemeClr val="accent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구매수</a:t>
            </a:r>
            <a:r>
              <a:rPr lang="ko-KR" altLang="en-US" sz="1000" b="1" kern="0" spc="0" dirty="0">
                <a:solidFill>
                  <a:schemeClr val="accent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endParaRPr lang="en-US" altLang="ko-KR" sz="1000" b="1" kern="0" spc="0" dirty="0">
              <a:solidFill>
                <a:schemeClr val="accent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000" b="1" kern="0" dirty="0">
                <a:solidFill>
                  <a:schemeClr val="accent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       </a:t>
            </a:r>
            <a:r>
              <a:rPr lang="en-US" altLang="ko-KR" sz="1000" b="1" kern="0" spc="0" dirty="0">
                <a:solidFill>
                  <a:schemeClr val="accent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000" b="1" kern="0" spc="0" dirty="0">
                <a:solidFill>
                  <a:schemeClr val="accent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각 점수부여 후 합산</a:t>
            </a:r>
            <a:r>
              <a:rPr lang="en-US" altLang="ko-KR" sz="1000" b="1" kern="0" spc="0" dirty="0">
                <a:solidFill>
                  <a:schemeClr val="accent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1000" b="1" kern="0" spc="0" dirty="0">
              <a:solidFill>
                <a:schemeClr val="accent1"/>
              </a:solidFill>
              <a:effectLst/>
              <a:latin typeface="한양신명조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0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C3C6005-1DA1-4013-A187-82EAC9912DF8}"/>
              </a:ext>
            </a:extLst>
          </p:cNvPr>
          <p:cNvSpPr/>
          <p:nvPr/>
        </p:nvSpPr>
        <p:spPr>
          <a:xfrm>
            <a:off x="9391068" y="1214063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80DFA18C-A4CE-43D8-A335-E6EC928F5E4D}"/>
              </a:ext>
            </a:extLst>
          </p:cNvPr>
          <p:cNvSpPr/>
          <p:nvPr/>
        </p:nvSpPr>
        <p:spPr>
          <a:xfrm>
            <a:off x="9401762" y="2093120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DA9AB6B1-554A-473D-9940-092D3DBA5976}"/>
              </a:ext>
            </a:extLst>
          </p:cNvPr>
          <p:cNvSpPr/>
          <p:nvPr/>
        </p:nvSpPr>
        <p:spPr>
          <a:xfrm>
            <a:off x="9400331" y="2854185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60120E15-33F3-4209-BBC4-4FE35FF2D5D7}"/>
              </a:ext>
            </a:extLst>
          </p:cNvPr>
          <p:cNvSpPr/>
          <p:nvPr/>
        </p:nvSpPr>
        <p:spPr>
          <a:xfrm>
            <a:off x="9400331" y="3306432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E7B02C8E-017D-4F1A-86CB-BDF3A7D4E86F}"/>
              </a:ext>
            </a:extLst>
          </p:cNvPr>
          <p:cNvSpPr/>
          <p:nvPr/>
        </p:nvSpPr>
        <p:spPr>
          <a:xfrm>
            <a:off x="9391068" y="3751509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5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4104253E-E6E0-48BA-927C-06D11B833181}"/>
              </a:ext>
            </a:extLst>
          </p:cNvPr>
          <p:cNvSpPr/>
          <p:nvPr/>
        </p:nvSpPr>
        <p:spPr>
          <a:xfrm>
            <a:off x="9400331" y="4363245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6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25840497-FB50-4981-BF79-B0E99FCAD106}"/>
              </a:ext>
            </a:extLst>
          </p:cNvPr>
          <p:cNvSpPr/>
          <p:nvPr/>
        </p:nvSpPr>
        <p:spPr>
          <a:xfrm>
            <a:off x="9400331" y="4843131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7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131D48-CF9D-43FE-83D3-9269CCB3A4A2}"/>
              </a:ext>
            </a:extLst>
          </p:cNvPr>
          <p:cNvSpPr txBox="1"/>
          <p:nvPr/>
        </p:nvSpPr>
        <p:spPr>
          <a:xfrm>
            <a:off x="6671408" y="4854817"/>
            <a:ext cx="2191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FF0000"/>
                </a:solidFill>
              </a:rPr>
              <a:t>추후 협의</a:t>
            </a:r>
          </a:p>
        </p:txBody>
      </p:sp>
      <p:sp>
        <p:nvSpPr>
          <p:cNvPr id="2" name="직사각형 1">
            <a:hlinkClick r:id="rId7" action="ppaction://hlinksldjump"/>
            <a:extLst>
              <a:ext uri="{FF2B5EF4-FFF2-40B4-BE49-F238E27FC236}">
                <a16:creationId xmlns:a16="http://schemas.microsoft.com/office/drawing/2014/main" id="{4628B932-95E8-439D-91A9-70821F0CFF07}"/>
              </a:ext>
            </a:extLst>
          </p:cNvPr>
          <p:cNvSpPr/>
          <p:nvPr/>
        </p:nvSpPr>
        <p:spPr>
          <a:xfrm>
            <a:off x="5433871" y="86555"/>
            <a:ext cx="289114" cy="125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0A9D21-11D9-4B5E-9FF6-234A0E9EA469}"/>
              </a:ext>
            </a:extLst>
          </p:cNvPr>
          <p:cNvSpPr/>
          <p:nvPr/>
        </p:nvSpPr>
        <p:spPr>
          <a:xfrm>
            <a:off x="140043" y="1632466"/>
            <a:ext cx="1268627" cy="1027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51BA3CC-5965-4D94-BC84-740155DE3BFD}"/>
              </a:ext>
            </a:extLst>
          </p:cNvPr>
          <p:cNvSpPr/>
          <p:nvPr/>
        </p:nvSpPr>
        <p:spPr>
          <a:xfrm>
            <a:off x="140042" y="3277179"/>
            <a:ext cx="6027573" cy="463587"/>
          </a:xfrm>
          <a:prstGeom prst="roundRect">
            <a:avLst>
              <a:gd name="adj" fmla="val 791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6B642BB-6B85-4FF7-A15A-EA79B85B84FE}"/>
              </a:ext>
            </a:extLst>
          </p:cNvPr>
          <p:cNvGrpSpPr/>
          <p:nvPr/>
        </p:nvGrpSpPr>
        <p:grpSpPr>
          <a:xfrm>
            <a:off x="6163664" y="3121769"/>
            <a:ext cx="361301" cy="449895"/>
            <a:chOff x="5095875" y="473034"/>
            <a:chExt cx="350647" cy="407986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4F077832-B3A3-440F-8251-6279AC8AA648}"/>
                </a:ext>
              </a:extLst>
            </p:cNvPr>
            <p:cNvSpPr/>
            <p:nvPr/>
          </p:nvSpPr>
          <p:spPr>
            <a:xfrm>
              <a:off x="5163048" y="473034"/>
              <a:ext cx="283474" cy="237922"/>
            </a:xfrm>
            <a:prstGeom prst="roundRect">
              <a:avLst>
                <a:gd name="adj" fmla="val 31373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latin typeface="굴림" panose="020B0600000101010101" pitchFamily="50" charset="-127"/>
                  <a:ea typeface="굴림" panose="020B0600000101010101" pitchFamily="50" charset="-127"/>
                </a:rPr>
                <a:t>3</a:t>
              </a:r>
              <a:endPara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D20E26FA-8EE2-45D8-B4E8-18EF3DFFE20F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 flipV="1">
              <a:off x="5095875" y="710956"/>
              <a:ext cx="208910" cy="170064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1377FCA-485C-40FD-9653-F7E0A8D6D293}"/>
              </a:ext>
            </a:extLst>
          </p:cNvPr>
          <p:cNvGrpSpPr/>
          <p:nvPr/>
        </p:nvGrpSpPr>
        <p:grpSpPr>
          <a:xfrm>
            <a:off x="9258433" y="270419"/>
            <a:ext cx="2536607" cy="501316"/>
            <a:chOff x="9258433" y="270419"/>
            <a:chExt cx="2536607" cy="501316"/>
          </a:xfrm>
        </p:grpSpPr>
        <p:sp>
          <p:nvSpPr>
            <p:cNvPr id="10" name="리본: 아래로 기울어짐 9">
              <a:extLst>
                <a:ext uri="{FF2B5EF4-FFF2-40B4-BE49-F238E27FC236}">
                  <a16:creationId xmlns:a16="http://schemas.microsoft.com/office/drawing/2014/main" id="{1730E6ED-A8C5-4019-92B7-7DC44B7EA1F0}"/>
                </a:ext>
              </a:extLst>
            </p:cNvPr>
            <p:cNvSpPr/>
            <p:nvPr/>
          </p:nvSpPr>
          <p:spPr>
            <a:xfrm>
              <a:off x="9258433" y="270419"/>
              <a:ext cx="2536607" cy="501316"/>
            </a:xfrm>
            <a:prstGeom prst="ribbon">
              <a:avLst>
                <a:gd name="adj1" fmla="val 16667"/>
                <a:gd name="adj2" fmla="val 75000"/>
              </a:avLst>
            </a:prstGeom>
            <a:ln w="31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A532F4-0167-4914-AFD2-0FDCBEC5F4A1}"/>
                </a:ext>
              </a:extLst>
            </p:cNvPr>
            <p:cNvSpPr txBox="1"/>
            <p:nvPr/>
          </p:nvSpPr>
          <p:spPr>
            <a:xfrm>
              <a:off x="9938084" y="360027"/>
              <a:ext cx="1371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 err="1">
                  <a:ln w="0"/>
                  <a:solidFill>
                    <a:srgbClr val="00206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메인화면</a:t>
              </a:r>
              <a:endParaRPr lang="ko-KR" altLang="en-US" sz="2000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8E237F21-7F4A-4942-8295-30603D710C8D}"/>
              </a:ext>
            </a:extLst>
          </p:cNvPr>
          <p:cNvSpPr/>
          <p:nvPr/>
        </p:nvSpPr>
        <p:spPr>
          <a:xfrm>
            <a:off x="9391068" y="5409898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8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A2FAE827-BAC4-4272-9CF3-DDE36A31DE5E}"/>
              </a:ext>
            </a:extLst>
          </p:cNvPr>
          <p:cNvSpPr/>
          <p:nvPr/>
        </p:nvSpPr>
        <p:spPr>
          <a:xfrm>
            <a:off x="6468217" y="6233412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8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896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EAFA2FD4-58F1-41E3-BEDB-8F829FB9F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956" y="2"/>
            <a:ext cx="5975024" cy="6079940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BD6D1F8-778A-4CAC-AC3F-8A2213C27303}"/>
              </a:ext>
            </a:extLst>
          </p:cNvPr>
          <p:cNvCxnSpPr>
            <a:cxnSpLocks/>
          </p:cNvCxnSpPr>
          <p:nvPr/>
        </p:nvCxnSpPr>
        <p:spPr>
          <a:xfrm flipH="1">
            <a:off x="5436972" y="241777"/>
            <a:ext cx="1524485" cy="220486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7D76B949-7C62-47F9-9268-AEF9800AD189}"/>
              </a:ext>
            </a:extLst>
          </p:cNvPr>
          <p:cNvGrpSpPr/>
          <p:nvPr/>
        </p:nvGrpSpPr>
        <p:grpSpPr>
          <a:xfrm>
            <a:off x="9254253" y="1069782"/>
            <a:ext cx="2689173" cy="855488"/>
            <a:chOff x="9258433" y="1222182"/>
            <a:chExt cx="2689173" cy="855488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6188B8F1-9B34-4306-A18E-DBF9CA6BA1A8}"/>
                </a:ext>
              </a:extLst>
            </p:cNvPr>
            <p:cNvSpPr/>
            <p:nvPr/>
          </p:nvSpPr>
          <p:spPr>
            <a:xfrm>
              <a:off x="9258433" y="1222182"/>
              <a:ext cx="2689173" cy="855488"/>
            </a:xfrm>
            <a:prstGeom prst="roundRect">
              <a:avLst>
                <a:gd name="adj" fmla="val 5554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sz="1000" b="1" dirty="0">
                  <a:latin typeface="굴림" panose="020B0600000101010101" pitchFamily="50" charset="-127"/>
                  <a:ea typeface="굴림" panose="020B0600000101010101" pitchFamily="50" charset="-127"/>
                </a:rPr>
                <a:t>         </a:t>
              </a:r>
            </a:p>
            <a:p>
              <a:r>
                <a:rPr lang="en-US" altLang="ko-KR" sz="1000" b="1" dirty="0">
                  <a:latin typeface="굴림" panose="020B0600000101010101" pitchFamily="50" charset="-127"/>
                  <a:ea typeface="굴림" panose="020B0600000101010101" pitchFamily="50" charset="-127"/>
                </a:rPr>
                <a:t>         -&gt; </a:t>
              </a:r>
              <a:r>
                <a:rPr lang="ko-KR" altLang="en-US" sz="1000" b="1" dirty="0">
                  <a:latin typeface="굴림" panose="020B0600000101010101" pitchFamily="50" charset="-127"/>
                  <a:ea typeface="굴림" panose="020B0600000101010101" pitchFamily="50" charset="-127"/>
                </a:rPr>
                <a:t>로그인 화면</a:t>
              </a:r>
              <a:endPara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r>
                <a:rPr lang="en-US" altLang="ko-KR" sz="1000" b="1" dirty="0">
                  <a:latin typeface="굴림" panose="020B0600000101010101" pitchFamily="50" charset="-127"/>
                  <a:ea typeface="굴림" panose="020B0600000101010101" pitchFamily="50" charset="-127"/>
                </a:rPr>
                <a:t>              DB</a:t>
              </a:r>
              <a:r>
                <a:rPr lang="ko-KR" altLang="en-US" sz="1000" b="1" dirty="0">
                  <a:latin typeface="굴림" panose="020B0600000101010101" pitchFamily="50" charset="-127"/>
                  <a:ea typeface="굴림" panose="020B0600000101010101" pitchFamily="50" charset="-127"/>
                </a:rPr>
                <a:t>에서 임의로 </a:t>
              </a:r>
              <a:r>
                <a:rPr lang="ko-KR" altLang="en-US" sz="1000" b="1" dirty="0" err="1">
                  <a:latin typeface="굴림" panose="020B0600000101010101" pitchFamily="50" charset="-127"/>
                  <a:ea typeface="굴림" panose="020B0600000101010101" pitchFamily="50" charset="-127"/>
                </a:rPr>
                <a:t>만들어둔</a:t>
              </a:r>
              <a:endPara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r>
                <a:rPr lang="en-US" altLang="ko-KR" sz="1000" b="1" dirty="0">
                  <a:latin typeface="굴림" panose="020B0600000101010101" pitchFamily="50" charset="-127"/>
                  <a:ea typeface="굴림" panose="020B0600000101010101" pitchFamily="50" charset="-127"/>
                </a:rPr>
                <a:t>              User Data</a:t>
              </a:r>
              <a:r>
                <a:rPr lang="ko-KR" altLang="en-US" sz="1000" b="1" dirty="0">
                  <a:latin typeface="굴림" panose="020B0600000101010101" pitchFamily="50" charset="-127"/>
                  <a:ea typeface="굴림" panose="020B0600000101010101" pitchFamily="50" charset="-127"/>
                </a:rPr>
                <a:t>를 가져와 표시하고</a:t>
              </a:r>
              <a:endPara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  <a:p>
              <a:r>
                <a:rPr lang="en-US" altLang="ko-KR" sz="1000" b="1" dirty="0">
                  <a:latin typeface="굴림" panose="020B0600000101010101" pitchFamily="50" charset="-127"/>
                  <a:ea typeface="굴림" panose="020B0600000101010101" pitchFamily="50" charset="-127"/>
                </a:rPr>
                <a:t>              </a:t>
              </a:r>
              <a:r>
                <a:rPr lang="ko-KR" altLang="en-US" sz="1000" b="1" dirty="0">
                  <a:latin typeface="굴림" panose="020B0600000101010101" pitchFamily="50" charset="-127"/>
                  <a:ea typeface="굴림" panose="020B0600000101010101" pitchFamily="50" charset="-127"/>
                </a:rPr>
                <a:t>드롭 다운으로 출력함</a:t>
              </a:r>
              <a:r>
                <a:rPr lang="en-US" altLang="ko-KR" sz="1000" b="1" dirty="0">
                  <a:latin typeface="굴림" panose="020B0600000101010101" pitchFamily="50" charset="-127"/>
                  <a:ea typeface="굴림" panose="020B0600000101010101" pitchFamily="50" charset="-127"/>
                </a:rPr>
                <a:t>. </a:t>
              </a:r>
            </a:p>
            <a:p>
              <a:endParaRPr lang="en-US" altLang="ko-KR" sz="1000" b="1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DC3C6005-1DA1-4013-A187-82EAC9912DF8}"/>
                </a:ext>
              </a:extLst>
            </p:cNvPr>
            <p:cNvSpPr/>
            <p:nvPr/>
          </p:nvSpPr>
          <p:spPr>
            <a:xfrm>
              <a:off x="9446360" y="1298509"/>
              <a:ext cx="240938" cy="298657"/>
            </a:xfrm>
            <a:prstGeom prst="roundRect">
              <a:avLst>
                <a:gd name="adj" fmla="val 31373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latin typeface="굴림" panose="020B0600000101010101" pitchFamily="50" charset="-127"/>
                  <a:ea typeface="굴림" panose="020B0600000101010101" pitchFamily="50" charset="-127"/>
                </a:rPr>
                <a:t>1</a:t>
              </a:r>
              <a:endPara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99" name="그림 98">
            <a:extLst>
              <a:ext uri="{FF2B5EF4-FFF2-40B4-BE49-F238E27FC236}">
                <a16:creationId xmlns:a16="http://schemas.microsoft.com/office/drawing/2014/main" id="{F1AD7164-4C37-4C85-B08B-CDFADC538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247" y="2473064"/>
            <a:ext cx="2767714" cy="20446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6E7446D-1803-45EA-9F6C-2E0345ED3CF3}"/>
              </a:ext>
            </a:extLst>
          </p:cNvPr>
          <p:cNvSpPr/>
          <p:nvPr/>
        </p:nvSpPr>
        <p:spPr>
          <a:xfrm>
            <a:off x="6699632" y="86556"/>
            <a:ext cx="523650" cy="155221"/>
          </a:xfrm>
          <a:prstGeom prst="roundRect">
            <a:avLst>
              <a:gd name="adj" fmla="val 49308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1E2EB78B-9EFD-41CE-A2C5-710D11D75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956" y="6079942"/>
            <a:ext cx="5963739" cy="778058"/>
          </a:xfrm>
          <a:prstGeom prst="rect">
            <a:avLst/>
          </a:prstGeom>
        </p:spPr>
      </p:pic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6F951B8F-05A2-4014-A7FE-F96C687BFB19}"/>
              </a:ext>
            </a:extLst>
          </p:cNvPr>
          <p:cNvSpPr/>
          <p:nvPr/>
        </p:nvSpPr>
        <p:spPr>
          <a:xfrm>
            <a:off x="5054678" y="2384169"/>
            <a:ext cx="240938" cy="298657"/>
          </a:xfrm>
          <a:prstGeom prst="roundRect">
            <a:avLst>
              <a:gd name="adj" fmla="val 31373"/>
            </a:avLst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실행 단추: 앞으로 또는 다음으로 이동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107AB9-A03B-4651-B69A-788F7AF0BB3D}"/>
              </a:ext>
            </a:extLst>
          </p:cNvPr>
          <p:cNvSpPr/>
          <p:nvPr/>
        </p:nvSpPr>
        <p:spPr>
          <a:xfrm rot="5400000">
            <a:off x="5295616" y="3179804"/>
            <a:ext cx="141356" cy="141357"/>
          </a:xfrm>
          <a:prstGeom prst="actionButtonForwardNext">
            <a:avLst/>
          </a:prstGeom>
          <a:solidFill>
            <a:schemeClr val="bg1"/>
          </a:solidFill>
          <a:ln>
            <a:solidFill>
              <a:srgbClr val="F5F2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F7B7D17-F4FE-457D-94A6-9AEC47770AC6}"/>
              </a:ext>
            </a:extLst>
          </p:cNvPr>
          <p:cNvGrpSpPr/>
          <p:nvPr/>
        </p:nvGrpSpPr>
        <p:grpSpPr>
          <a:xfrm>
            <a:off x="9258433" y="270419"/>
            <a:ext cx="2536607" cy="501316"/>
            <a:chOff x="9258433" y="270419"/>
            <a:chExt cx="2536607" cy="501316"/>
          </a:xfrm>
        </p:grpSpPr>
        <p:sp>
          <p:nvSpPr>
            <p:cNvPr id="12" name="리본: 아래로 기울어짐 11">
              <a:extLst>
                <a:ext uri="{FF2B5EF4-FFF2-40B4-BE49-F238E27FC236}">
                  <a16:creationId xmlns:a16="http://schemas.microsoft.com/office/drawing/2014/main" id="{BF185E46-1AC5-48FC-9ECD-04278D40EECC}"/>
                </a:ext>
              </a:extLst>
            </p:cNvPr>
            <p:cNvSpPr/>
            <p:nvPr/>
          </p:nvSpPr>
          <p:spPr>
            <a:xfrm>
              <a:off x="9258433" y="270419"/>
              <a:ext cx="2536607" cy="501316"/>
            </a:xfrm>
            <a:prstGeom prst="ribbon">
              <a:avLst>
                <a:gd name="adj1" fmla="val 16667"/>
                <a:gd name="adj2" fmla="val 75000"/>
              </a:avLst>
            </a:prstGeom>
            <a:ln w="31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AD102F-D447-403B-8B41-D5CEC04B631F}"/>
                </a:ext>
              </a:extLst>
            </p:cNvPr>
            <p:cNvSpPr txBox="1"/>
            <p:nvPr/>
          </p:nvSpPr>
          <p:spPr>
            <a:xfrm>
              <a:off x="9785684" y="360027"/>
              <a:ext cx="16263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ln w="0"/>
                  <a:solidFill>
                    <a:srgbClr val="00206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로그인 화면</a:t>
              </a:r>
              <a:endParaRPr lang="ko-KR" altLang="en-US" sz="2000" b="1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300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hlinkClick r:id="rId2" action="ppaction://hlinksldjump"/>
            <a:extLst>
              <a:ext uri="{FF2B5EF4-FFF2-40B4-BE49-F238E27FC236}">
                <a16:creationId xmlns:a16="http://schemas.microsoft.com/office/drawing/2014/main" id="{8DBAC733-C85C-419B-97E2-D8176C763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157411" cy="6858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1190712-10D5-47F2-A929-1463E6A95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440" y="4949900"/>
            <a:ext cx="3031061" cy="1770834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5C761BA-AD97-42F4-91C7-2837ADA67D96}"/>
              </a:ext>
            </a:extLst>
          </p:cNvPr>
          <p:cNvSpPr/>
          <p:nvPr/>
        </p:nvSpPr>
        <p:spPr>
          <a:xfrm>
            <a:off x="8763979" y="1110676"/>
            <a:ext cx="3031061" cy="2973016"/>
          </a:xfrm>
          <a:prstGeom prst="roundRect">
            <a:avLst>
              <a:gd name="adj" fmla="val 692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</a:p>
          <a:p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</a:t>
            </a:r>
            <a:r>
              <a:rPr lang="en-US" altLang="ko-KR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-&gt; </a:t>
            </a:r>
            <a:r>
              <a:rPr lang="ko-KR" altLang="en-US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클릭 상품 상세 페이지로</a:t>
            </a:r>
            <a:r>
              <a:rPr lang="en-US" altLang="ko-KR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  </a:t>
            </a:r>
            <a:r>
              <a:rPr lang="ko-KR" altLang="en-US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이동 </a:t>
            </a:r>
            <a:r>
              <a:rPr lang="en-US" altLang="ko-KR" sz="1000" b="1" dirty="0">
                <a:solidFill>
                  <a:schemeClr val="accent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200" b="1" kern="0" spc="0" dirty="0">
                <a:solidFill>
                  <a:schemeClr val="accent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관련상품</a:t>
            </a:r>
            <a:r>
              <a:rPr lang="en-US" altLang="ko-KR" sz="1200" b="1" kern="0" spc="0" dirty="0">
                <a:solidFill>
                  <a:schemeClr val="accent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200" b="1" kern="0" spc="0" dirty="0">
                <a:solidFill>
                  <a:schemeClr val="accent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성별</a:t>
            </a:r>
            <a:r>
              <a:rPr lang="en-US" altLang="ko-KR" sz="1200" b="1" kern="0" dirty="0">
                <a:solidFill>
                  <a:schemeClr val="accent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/</a:t>
            </a:r>
            <a:r>
              <a:rPr lang="ko-KR" altLang="en-US" sz="1200" b="1" kern="0" spc="0" dirty="0">
                <a:solidFill>
                  <a:schemeClr val="accent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연령 기준</a:t>
            </a:r>
            <a:r>
              <a:rPr lang="en-US" altLang="ko-KR" sz="1200" b="1" kern="0" spc="0" dirty="0">
                <a:solidFill>
                  <a:schemeClr val="accent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sz="1100" b="1" kern="0" spc="0" dirty="0">
              <a:solidFill>
                <a:schemeClr val="accent1"/>
              </a:solidFill>
              <a:effectLst/>
              <a:latin typeface="한양신명조"/>
            </a:endParaRPr>
          </a:p>
          <a:p>
            <a:endParaRPr lang="en-US" altLang="ko-KR" sz="1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</a:t>
            </a:r>
            <a:r>
              <a:rPr lang="en-US" altLang="ko-KR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-&gt; </a:t>
            </a:r>
            <a:r>
              <a:rPr lang="ko-KR" altLang="en-US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클릭 시 장바구니에 현재</a:t>
            </a:r>
            <a:br>
              <a:rPr lang="en-US" altLang="ko-KR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en-US" altLang="ko-KR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   </a:t>
            </a:r>
            <a:r>
              <a:rPr lang="ko-KR" altLang="en-US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선택한 상품 담김</a:t>
            </a:r>
            <a:endParaRPr lang="en-US" altLang="ko-KR" sz="14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-&gt; </a:t>
            </a:r>
            <a:r>
              <a:rPr lang="ko-KR" altLang="en-US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구매 내역으로 이동</a:t>
            </a:r>
            <a:endParaRPr lang="en-US" altLang="ko-KR" sz="14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endParaRPr lang="en-US" altLang="ko-KR" sz="1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-&gt; </a:t>
            </a:r>
            <a:r>
              <a:rPr lang="ko-KR" altLang="en-US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클릭 시 </a:t>
            </a:r>
            <a:r>
              <a:rPr lang="en-US" altLang="ko-KR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r>
              <a:rPr lang="ko-KR" altLang="en-US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번의 상품들을</a:t>
            </a:r>
            <a:br>
              <a:rPr lang="en-US" altLang="ko-KR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</a:br>
            <a:r>
              <a:rPr lang="en-US" altLang="ko-KR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  </a:t>
            </a:r>
            <a:r>
              <a:rPr lang="ko-KR" altLang="en-US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도출한 과정 출력 </a:t>
            </a:r>
            <a:r>
              <a:rPr lang="en-US" altLang="ko-KR" sz="14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en-US" altLang="ko-KR" sz="1200" b="1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SVD </a:t>
            </a:r>
            <a:r>
              <a:rPr lang="ko-KR" altLang="en-US" sz="1200" b="1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알고</a:t>
            </a:r>
            <a:endParaRPr lang="en-US" altLang="ko-KR" sz="1200" b="1" dirty="0">
              <a:solidFill>
                <a:srgbClr val="FF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200" b="1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    </a:t>
            </a:r>
            <a:r>
              <a:rPr lang="ko-KR" altLang="en-US" sz="1200" b="1" dirty="0" err="1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리즘을</a:t>
            </a:r>
            <a:r>
              <a:rPr lang="ko-KR" altLang="en-US" sz="12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사용한 </a:t>
            </a:r>
            <a:r>
              <a:rPr lang="ko-KR" altLang="en-US" sz="1200" b="1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협업 필터링</a:t>
            </a:r>
            <a:endParaRPr lang="en-US" altLang="ko-KR" sz="12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AFAFE62-8643-408F-9E83-3E8CF5A826CE}"/>
              </a:ext>
            </a:extLst>
          </p:cNvPr>
          <p:cNvGrpSpPr/>
          <p:nvPr/>
        </p:nvGrpSpPr>
        <p:grpSpPr>
          <a:xfrm>
            <a:off x="1590844" y="4084223"/>
            <a:ext cx="5310381" cy="451185"/>
            <a:chOff x="481491" y="4178970"/>
            <a:chExt cx="5310381" cy="451185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8AC2E48E-1741-4962-9C9D-33CCFCF8A685}"/>
                </a:ext>
              </a:extLst>
            </p:cNvPr>
            <p:cNvSpPr/>
            <p:nvPr/>
          </p:nvSpPr>
          <p:spPr>
            <a:xfrm>
              <a:off x="2857501" y="4178970"/>
              <a:ext cx="300788" cy="25667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1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D96A818-0B7B-43DC-9A83-FCF4463B9C3B}"/>
                </a:ext>
              </a:extLst>
            </p:cNvPr>
            <p:cNvCxnSpPr>
              <a:cxnSpLocks/>
              <a:endCxn id="35" idx="1"/>
            </p:cNvCxnSpPr>
            <p:nvPr/>
          </p:nvCxnSpPr>
          <p:spPr>
            <a:xfrm flipV="1">
              <a:off x="481491" y="4307306"/>
              <a:ext cx="2376010" cy="32284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A7C4C45B-21D5-4B75-9CCB-C38414D38B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6892" y="4443664"/>
              <a:ext cx="1003" cy="18649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DF9B6D74-7593-4F11-81A1-A970D067D296}"/>
                </a:ext>
              </a:extLst>
            </p:cNvPr>
            <p:cNvCxnSpPr>
              <a:cxnSpLocks/>
            </p:cNvCxnSpPr>
            <p:nvPr/>
          </p:nvCxnSpPr>
          <p:spPr>
            <a:xfrm>
              <a:off x="3158289" y="4315328"/>
              <a:ext cx="2633583" cy="31482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C4BCA66-067B-4DF8-8284-D35504D05B4A}"/>
              </a:ext>
            </a:extLst>
          </p:cNvPr>
          <p:cNvSpPr/>
          <p:nvPr/>
        </p:nvSpPr>
        <p:spPr>
          <a:xfrm>
            <a:off x="7500356" y="77011"/>
            <a:ext cx="591222" cy="256672"/>
          </a:xfrm>
          <a:prstGeom prst="roundRect">
            <a:avLst/>
          </a:prstGeom>
          <a:solidFill>
            <a:srgbClr val="8B7355"/>
          </a:solidFill>
          <a:ln>
            <a:solidFill>
              <a:srgbClr val="8B73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5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ED65E4A8-9066-41DE-A1EA-DF4D8A892B80}"/>
              </a:ext>
            </a:extLst>
          </p:cNvPr>
          <p:cNvSpPr/>
          <p:nvPr/>
        </p:nvSpPr>
        <p:spPr>
          <a:xfrm>
            <a:off x="7118685" y="82219"/>
            <a:ext cx="300788" cy="2326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44F2E89-6517-4BF1-B37B-7B7B930910BC}"/>
              </a:ext>
            </a:extLst>
          </p:cNvPr>
          <p:cNvSpPr/>
          <p:nvPr/>
        </p:nvSpPr>
        <p:spPr>
          <a:xfrm>
            <a:off x="41108" y="4544933"/>
            <a:ext cx="2560392" cy="10377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3A077C4-FFB9-4E0A-A6CC-775506DFEA59}"/>
              </a:ext>
            </a:extLst>
          </p:cNvPr>
          <p:cNvSpPr/>
          <p:nvPr/>
        </p:nvSpPr>
        <p:spPr>
          <a:xfrm>
            <a:off x="2751893" y="4544933"/>
            <a:ext cx="2628899" cy="10377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FE13C46-DE6D-43BE-94DB-DFABEB76FA8D}"/>
              </a:ext>
            </a:extLst>
          </p:cNvPr>
          <p:cNvSpPr/>
          <p:nvPr/>
        </p:nvSpPr>
        <p:spPr>
          <a:xfrm>
            <a:off x="5507465" y="4550446"/>
            <a:ext cx="2584113" cy="103220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5A2AE06-D5FA-4219-BD7A-37698341F1FC}"/>
              </a:ext>
            </a:extLst>
          </p:cNvPr>
          <p:cNvSpPr/>
          <p:nvPr/>
        </p:nvSpPr>
        <p:spPr>
          <a:xfrm>
            <a:off x="41108" y="5923555"/>
            <a:ext cx="8050470" cy="85743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B1F5C2E-9EBD-4581-9D04-30DA4D4A5D6D}"/>
              </a:ext>
            </a:extLst>
          </p:cNvPr>
          <p:cNvSpPr/>
          <p:nvPr/>
        </p:nvSpPr>
        <p:spPr>
          <a:xfrm>
            <a:off x="6901225" y="5706981"/>
            <a:ext cx="300788" cy="25667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9826193-D598-4FFA-9A09-CBFC8BF44B37}"/>
              </a:ext>
            </a:extLst>
          </p:cNvPr>
          <p:cNvCxnSpPr>
            <a:stCxn id="44" idx="3"/>
            <a:endCxn id="21" idx="1"/>
          </p:cNvCxnSpPr>
          <p:nvPr/>
        </p:nvCxnSpPr>
        <p:spPr>
          <a:xfrm>
            <a:off x="7202013" y="5835317"/>
            <a:ext cx="159842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EFDCD3B-2B1A-4DF2-879F-51ED4CC5EA41}"/>
              </a:ext>
            </a:extLst>
          </p:cNvPr>
          <p:cNvSpPr/>
          <p:nvPr/>
        </p:nvSpPr>
        <p:spPr>
          <a:xfrm>
            <a:off x="8899758" y="1468564"/>
            <a:ext cx="300788" cy="25667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33D9BD8-8300-4FBA-9F41-85BB93D43317}"/>
              </a:ext>
            </a:extLst>
          </p:cNvPr>
          <p:cNvSpPr/>
          <p:nvPr/>
        </p:nvSpPr>
        <p:spPr>
          <a:xfrm>
            <a:off x="8899758" y="2076570"/>
            <a:ext cx="308811" cy="224385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6550ECB-7FAB-4022-A45F-8F43A5C7636A}"/>
              </a:ext>
            </a:extLst>
          </p:cNvPr>
          <p:cNvSpPr/>
          <p:nvPr/>
        </p:nvSpPr>
        <p:spPr>
          <a:xfrm>
            <a:off x="8899758" y="2679587"/>
            <a:ext cx="300788" cy="25667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E314B9C-2DC3-4738-8BF0-31D7D38BC462}"/>
              </a:ext>
            </a:extLst>
          </p:cNvPr>
          <p:cNvSpPr/>
          <p:nvPr/>
        </p:nvSpPr>
        <p:spPr>
          <a:xfrm>
            <a:off x="8899758" y="3112691"/>
            <a:ext cx="300788" cy="25667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5D8817-1CD3-452A-9448-87F8DE965B6A}"/>
              </a:ext>
            </a:extLst>
          </p:cNvPr>
          <p:cNvSpPr txBox="1"/>
          <p:nvPr/>
        </p:nvSpPr>
        <p:spPr>
          <a:xfrm>
            <a:off x="9440107" y="5570575"/>
            <a:ext cx="3739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FF0000"/>
                </a:solidFill>
              </a:rPr>
              <a:t>추후 협의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F5A43B-5B19-41A5-94E8-E1C747A88263}"/>
              </a:ext>
            </a:extLst>
          </p:cNvPr>
          <p:cNvSpPr/>
          <p:nvPr/>
        </p:nvSpPr>
        <p:spPr>
          <a:xfrm>
            <a:off x="4267642" y="2702011"/>
            <a:ext cx="1908570" cy="1979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hlinkClick r:id="rId5" action="ppaction://hlinksldjump"/>
            <a:extLst>
              <a:ext uri="{FF2B5EF4-FFF2-40B4-BE49-F238E27FC236}">
                <a16:creationId xmlns:a16="http://schemas.microsoft.com/office/drawing/2014/main" id="{5752F643-60CA-46FC-9CA9-45ED9F8A0C00}"/>
              </a:ext>
            </a:extLst>
          </p:cNvPr>
          <p:cNvSpPr/>
          <p:nvPr/>
        </p:nvSpPr>
        <p:spPr>
          <a:xfrm>
            <a:off x="6367849" y="2702011"/>
            <a:ext cx="1631092" cy="2497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687112BA-1551-42B9-ADB3-230106A27D47}"/>
              </a:ext>
            </a:extLst>
          </p:cNvPr>
          <p:cNvGrpSpPr/>
          <p:nvPr/>
        </p:nvGrpSpPr>
        <p:grpSpPr>
          <a:xfrm>
            <a:off x="9258433" y="270419"/>
            <a:ext cx="2536607" cy="501316"/>
            <a:chOff x="9258433" y="270419"/>
            <a:chExt cx="2536607" cy="501316"/>
          </a:xfrm>
        </p:grpSpPr>
        <p:sp>
          <p:nvSpPr>
            <p:cNvPr id="45" name="리본: 아래로 기울어짐 44">
              <a:extLst>
                <a:ext uri="{FF2B5EF4-FFF2-40B4-BE49-F238E27FC236}">
                  <a16:creationId xmlns:a16="http://schemas.microsoft.com/office/drawing/2014/main" id="{7205894B-66C9-45F0-942A-C3FAB2E5F03C}"/>
                </a:ext>
              </a:extLst>
            </p:cNvPr>
            <p:cNvSpPr/>
            <p:nvPr/>
          </p:nvSpPr>
          <p:spPr>
            <a:xfrm>
              <a:off x="9258433" y="270419"/>
              <a:ext cx="2536607" cy="501316"/>
            </a:xfrm>
            <a:prstGeom prst="ribbon">
              <a:avLst>
                <a:gd name="adj1" fmla="val 16667"/>
                <a:gd name="adj2" fmla="val 75000"/>
              </a:avLst>
            </a:prstGeom>
            <a:ln w="31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9A47FEE-1A8F-4240-895B-5113ADBA1988}"/>
                </a:ext>
              </a:extLst>
            </p:cNvPr>
            <p:cNvSpPr txBox="1"/>
            <p:nvPr/>
          </p:nvSpPr>
          <p:spPr>
            <a:xfrm>
              <a:off x="9777663" y="360027"/>
              <a:ext cx="16844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ln w="0"/>
                  <a:solidFill>
                    <a:srgbClr val="00206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 상세 화면</a:t>
              </a:r>
              <a:endParaRPr lang="ko-KR" altLang="en-US" sz="2000" b="1" dirty="0">
                <a:solidFill>
                  <a:srgbClr val="002060"/>
                </a:solidFill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C65D99F9-CAD1-4180-8AD6-5FB132A11B9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8919"/>
          <a:stretch/>
        </p:blipFill>
        <p:spPr>
          <a:xfrm>
            <a:off x="7092" y="410659"/>
            <a:ext cx="3965519" cy="364585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574F7436-A174-477C-A29F-A722AD3D820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9040"/>
          <a:stretch/>
        </p:blipFill>
        <p:spPr>
          <a:xfrm>
            <a:off x="3938123" y="395621"/>
            <a:ext cx="4119444" cy="3641299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98141E1-09F2-4F5E-8E23-9642336FCE54}"/>
              </a:ext>
            </a:extLst>
          </p:cNvPr>
          <p:cNvSpPr/>
          <p:nvPr/>
        </p:nvSpPr>
        <p:spPr>
          <a:xfrm>
            <a:off x="490315" y="788961"/>
            <a:ext cx="3286893" cy="2889247"/>
          </a:xfrm>
          <a:prstGeom prst="roundRect">
            <a:avLst>
              <a:gd name="adj" fmla="val 4140"/>
            </a:avLst>
          </a:prstGeom>
          <a:solidFill>
            <a:srgbClr val="EEEAE0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61B9FB3-EBEB-4D82-9E70-5F599F51160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8564" t="39982" r="30928" b="42540"/>
          <a:stretch/>
        </p:blipFill>
        <p:spPr>
          <a:xfrm>
            <a:off x="1247727" y="1811253"/>
            <a:ext cx="1933344" cy="68931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92E0DA91-2102-4D85-A3F0-973F95D196B1}"/>
              </a:ext>
            </a:extLst>
          </p:cNvPr>
          <p:cNvGrpSpPr/>
          <p:nvPr/>
        </p:nvGrpSpPr>
        <p:grpSpPr>
          <a:xfrm>
            <a:off x="4108390" y="314823"/>
            <a:ext cx="3449312" cy="2870348"/>
            <a:chOff x="4359882" y="97438"/>
            <a:chExt cx="3667693" cy="2870348"/>
          </a:xfrm>
        </p:grpSpPr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058BF4F8-43E7-4145-9674-2914FFDA4E08}"/>
                </a:ext>
              </a:extLst>
            </p:cNvPr>
            <p:cNvCxnSpPr>
              <a:cxnSpLocks/>
              <a:stCxn id="32" idx="0"/>
            </p:cNvCxnSpPr>
            <p:nvPr/>
          </p:nvCxnSpPr>
          <p:spPr>
            <a:xfrm flipV="1">
              <a:off x="5478820" y="97438"/>
              <a:ext cx="2130696" cy="245325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68FEB173-4C04-45F3-AB50-2516E308554C}"/>
                </a:ext>
              </a:extLst>
            </p:cNvPr>
            <p:cNvSpPr/>
            <p:nvPr/>
          </p:nvSpPr>
          <p:spPr>
            <a:xfrm>
              <a:off x="4359882" y="2636920"/>
              <a:ext cx="1816329" cy="33086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687F2180-8570-4146-BA1D-21ECF5B193C8}"/>
                </a:ext>
              </a:extLst>
            </p:cNvPr>
            <p:cNvSpPr/>
            <p:nvPr/>
          </p:nvSpPr>
          <p:spPr>
            <a:xfrm>
              <a:off x="5320182" y="2550693"/>
              <a:ext cx="317274" cy="216567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2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344A9069-672F-433F-B89B-4099558077F0}"/>
                </a:ext>
              </a:extLst>
            </p:cNvPr>
            <p:cNvSpPr/>
            <p:nvPr/>
          </p:nvSpPr>
          <p:spPr>
            <a:xfrm>
              <a:off x="6280485" y="2636920"/>
              <a:ext cx="1747090" cy="33086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FF583D7D-0112-4ECC-9F5B-5FFA9BEF5FD6}"/>
                </a:ext>
              </a:extLst>
            </p:cNvPr>
            <p:cNvSpPr/>
            <p:nvPr/>
          </p:nvSpPr>
          <p:spPr>
            <a:xfrm>
              <a:off x="7501245" y="2510588"/>
              <a:ext cx="300788" cy="25667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3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636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47309" y="1062136"/>
            <a:ext cx="3373126" cy="3742893"/>
            <a:chOff x="0" y="0"/>
            <a:chExt cx="1332593" cy="14786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2593" cy="1478674"/>
            </a:xfrm>
            <a:custGeom>
              <a:avLst/>
              <a:gdLst/>
              <a:ahLst/>
              <a:cxnLst/>
              <a:rect l="l" t="t" r="r" b="b"/>
              <a:pathLst>
                <a:path w="1332593" h="1478674">
                  <a:moveTo>
                    <a:pt x="26012" y="0"/>
                  </a:moveTo>
                  <a:lnTo>
                    <a:pt x="1306581" y="0"/>
                  </a:lnTo>
                  <a:cubicBezTo>
                    <a:pt x="1313480" y="0"/>
                    <a:pt x="1320096" y="2741"/>
                    <a:pt x="1324974" y="7619"/>
                  </a:cubicBezTo>
                  <a:cubicBezTo>
                    <a:pt x="1329852" y="12497"/>
                    <a:pt x="1332593" y="19113"/>
                    <a:pt x="1332593" y="26012"/>
                  </a:cubicBezTo>
                  <a:lnTo>
                    <a:pt x="1332593" y="1452662"/>
                  </a:lnTo>
                  <a:cubicBezTo>
                    <a:pt x="1332593" y="1459561"/>
                    <a:pt x="1329852" y="1466177"/>
                    <a:pt x="1324974" y="1471055"/>
                  </a:cubicBezTo>
                  <a:cubicBezTo>
                    <a:pt x="1320096" y="1475933"/>
                    <a:pt x="1313480" y="1478674"/>
                    <a:pt x="1306581" y="1478674"/>
                  </a:cubicBezTo>
                  <a:lnTo>
                    <a:pt x="26012" y="1478674"/>
                  </a:lnTo>
                  <a:cubicBezTo>
                    <a:pt x="19113" y="1478674"/>
                    <a:pt x="12497" y="1475933"/>
                    <a:pt x="7619" y="1471055"/>
                  </a:cubicBezTo>
                  <a:cubicBezTo>
                    <a:pt x="2741" y="1466177"/>
                    <a:pt x="0" y="1459561"/>
                    <a:pt x="0" y="1452662"/>
                  </a:cubicBezTo>
                  <a:lnTo>
                    <a:pt x="0" y="26012"/>
                  </a:lnTo>
                  <a:cubicBezTo>
                    <a:pt x="0" y="19113"/>
                    <a:pt x="2741" y="12497"/>
                    <a:pt x="7619" y="7619"/>
                  </a:cubicBezTo>
                  <a:cubicBezTo>
                    <a:pt x="12497" y="2741"/>
                    <a:pt x="19113" y="0"/>
                    <a:pt x="26012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332593" cy="150724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301416" y="295139"/>
            <a:ext cx="6569738" cy="4448447"/>
          </a:xfrm>
          <a:custGeom>
            <a:avLst/>
            <a:gdLst/>
            <a:ahLst/>
            <a:cxnLst/>
            <a:rect l="l" t="t" r="r" b="b"/>
            <a:pathLst>
              <a:path w="9854607" h="6672670">
                <a:moveTo>
                  <a:pt x="0" y="0"/>
                </a:moveTo>
                <a:lnTo>
                  <a:pt x="9854608" y="0"/>
                </a:lnTo>
                <a:lnTo>
                  <a:pt x="9854608" y="6672670"/>
                </a:lnTo>
                <a:lnTo>
                  <a:pt x="0" y="6672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284447" y="3896434"/>
            <a:ext cx="281271" cy="273369"/>
            <a:chOff x="0" y="-19655"/>
            <a:chExt cx="562542" cy="54673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720573" y="2708713"/>
            <a:ext cx="281271" cy="273369"/>
            <a:chOff x="0" y="-19655"/>
            <a:chExt cx="562542" cy="546737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606297" y="285312"/>
            <a:ext cx="281271" cy="273369"/>
            <a:chOff x="0" y="-19655"/>
            <a:chExt cx="562542" cy="546737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4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861209" y="869097"/>
            <a:ext cx="281271" cy="273369"/>
            <a:chOff x="0" y="-19655"/>
            <a:chExt cx="562542" cy="546737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075984" y="2245994"/>
            <a:ext cx="281271" cy="273369"/>
            <a:chOff x="0" y="-19655"/>
            <a:chExt cx="562542" cy="546737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4795296" y="4078933"/>
            <a:ext cx="3525967" cy="2483929"/>
          </a:xfrm>
          <a:custGeom>
            <a:avLst/>
            <a:gdLst/>
            <a:ahLst/>
            <a:cxnLst/>
            <a:rect l="l" t="t" r="r" b="b"/>
            <a:pathLst>
              <a:path w="5288950" h="3725893">
                <a:moveTo>
                  <a:pt x="0" y="0"/>
                </a:moveTo>
                <a:lnTo>
                  <a:pt x="5288950" y="0"/>
                </a:lnTo>
                <a:lnTo>
                  <a:pt x="5288950" y="3725893"/>
                </a:lnTo>
                <a:lnTo>
                  <a:pt x="0" y="37258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844" t="-42929" r="-42622" b="-35473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id="32" name="Freeform 32"/>
          <p:cNvSpPr/>
          <p:nvPr/>
        </p:nvSpPr>
        <p:spPr>
          <a:xfrm>
            <a:off x="4565718" y="3792656"/>
            <a:ext cx="791537" cy="245377"/>
          </a:xfrm>
          <a:custGeom>
            <a:avLst/>
            <a:gdLst/>
            <a:ahLst/>
            <a:cxnLst/>
            <a:rect l="l" t="t" r="r" b="b"/>
            <a:pathLst>
              <a:path w="1187305" h="368065">
                <a:moveTo>
                  <a:pt x="0" y="0"/>
                </a:moveTo>
                <a:lnTo>
                  <a:pt x="1187305" y="0"/>
                </a:lnTo>
                <a:lnTo>
                  <a:pt x="1187305" y="368064"/>
                </a:lnTo>
                <a:lnTo>
                  <a:pt x="0" y="36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8706181" y="1301865"/>
            <a:ext cx="3015896" cy="518219"/>
            <a:chOff x="0" y="-47625"/>
            <a:chExt cx="6031793" cy="103644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78102" y="-19655"/>
              <a:ext cx="206334" cy="4497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9384" y="-47625"/>
              <a:ext cx="5252409" cy="1036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47"/>
                </a:lnSpc>
                <a:spcBef>
                  <a:spcPct val="0"/>
                </a:spcBef>
              </a:pPr>
              <a:r>
                <a:rPr lang="en-US" sz="1533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구매 결정을 내린 후 구매하기 버튼을 눌러 상품을 구입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706181" y="2092708"/>
            <a:ext cx="3015896" cy="1056828"/>
            <a:chOff x="0" y="-47625"/>
            <a:chExt cx="6031793" cy="2113660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178102" y="-19655"/>
              <a:ext cx="206334" cy="4497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9384" y="-47625"/>
              <a:ext cx="5252409" cy="2113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47"/>
                </a:lnSpc>
                <a:spcBef>
                  <a:spcPct val="0"/>
                </a:spcBef>
              </a:pPr>
              <a:r>
                <a:rPr lang="ko-KR" altLang="en-US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비슷한 </a:t>
              </a:r>
              <a:r>
                <a:rPr lang="en-US" sz="153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소비자들이</a:t>
              </a:r>
              <a:r>
                <a:rPr lang="en-US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3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함께</a:t>
              </a:r>
              <a:r>
                <a:rPr lang="en-US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3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구매한</a:t>
              </a:r>
              <a:r>
                <a:rPr lang="en-US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3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상품</a:t>
              </a:r>
              <a:r>
                <a:rPr lang="en-US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3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추천</a:t>
              </a:r>
              <a:r>
                <a:rPr lang="en-US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</a:p>
            <a:p>
              <a:pPr>
                <a:lnSpc>
                  <a:spcPts val="2147"/>
                </a:lnSpc>
                <a:spcBef>
                  <a:spcPct val="0"/>
                </a:spcBef>
              </a:pPr>
              <a:r>
                <a:rPr lang="en-US" sz="1200" b="1" dirty="0">
                  <a:solidFill>
                    <a:schemeClr val="accent1"/>
                  </a:solidFill>
                  <a:latin typeface="+mn-ea"/>
                  <a:cs typeface="Noto Sans Kr"/>
                  <a:sym typeface="Noto Sans Kr"/>
                </a:rPr>
                <a:t>: </a:t>
              </a:r>
              <a:r>
                <a:rPr lang="ko-KR" altLang="en-US" sz="1400" b="1" kern="0" spc="0" dirty="0">
                  <a:solidFill>
                    <a:schemeClr val="accent1"/>
                  </a:solidFill>
                  <a:effectLst/>
                  <a:latin typeface="+mn-ea"/>
                </a:rPr>
                <a:t>관련상품</a:t>
              </a:r>
              <a:r>
                <a:rPr lang="en-US" altLang="ko-KR" sz="1400" b="1" kern="0" spc="0" dirty="0">
                  <a:solidFill>
                    <a:schemeClr val="accent1"/>
                  </a:solidFill>
                  <a:effectLst/>
                  <a:latin typeface="+mn-ea"/>
                </a:rPr>
                <a:t>(</a:t>
              </a:r>
              <a:r>
                <a:rPr lang="ko-KR" altLang="en-US" sz="1400" b="1" kern="0" spc="0" dirty="0">
                  <a:solidFill>
                    <a:schemeClr val="accent1"/>
                  </a:solidFill>
                  <a:effectLst/>
                  <a:latin typeface="+mn-ea"/>
                </a:rPr>
                <a:t>장바구니 상품기준</a:t>
              </a:r>
              <a:r>
                <a:rPr lang="en-US" altLang="ko-KR" sz="1400" b="1" kern="0" spc="0" dirty="0">
                  <a:solidFill>
                    <a:schemeClr val="accent1"/>
                  </a:solidFill>
                  <a:effectLst/>
                  <a:latin typeface="+mn-ea"/>
                </a:rPr>
                <a:t>)</a:t>
              </a:r>
              <a:endParaRPr lang="ko-KR" altLang="en-US" sz="1400" b="1" kern="0" spc="0" dirty="0">
                <a:solidFill>
                  <a:schemeClr val="accent1"/>
                </a:solidFill>
                <a:effectLst/>
                <a:latin typeface="+mn-ea"/>
              </a:endParaRPr>
            </a:p>
            <a:p>
              <a:pPr>
                <a:lnSpc>
                  <a:spcPts val="2147"/>
                </a:lnSpc>
                <a:spcBef>
                  <a:spcPct val="0"/>
                </a:spcBef>
              </a:pPr>
              <a:endParaRPr lang="en-US" sz="1533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725923" y="4041387"/>
            <a:ext cx="3015896" cy="518219"/>
            <a:chOff x="0" y="-47625"/>
            <a:chExt cx="6031793" cy="1036436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31750"/>
              <a:ext cx="562542" cy="527082"/>
              <a:chOff x="0" y="0"/>
              <a:chExt cx="785997" cy="73645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178102" y="12095"/>
              <a:ext cx="206334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9384" y="-47625"/>
              <a:ext cx="5252409" cy="1036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47"/>
                </a:lnSpc>
                <a:spcBef>
                  <a:spcPct val="0"/>
                </a:spcBef>
              </a:pPr>
              <a:r>
                <a:rPr lang="ko-KR" altLang="en-US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협업 필터링 분석 결과를 보여준다</a:t>
              </a:r>
              <a:r>
                <a:rPr lang="en-US" altLang="ko-KR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.</a:t>
              </a:r>
              <a:endParaRPr lang="en-US" sz="1533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725923" y="3463475"/>
            <a:ext cx="3015896" cy="303230"/>
            <a:chOff x="0" y="-47626"/>
            <a:chExt cx="6031793" cy="606458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-47626"/>
              <a:ext cx="562542" cy="606458"/>
              <a:chOff x="0" y="-110906"/>
              <a:chExt cx="785997" cy="847359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311948" y="0"/>
                    </a:moveTo>
                    <a:lnTo>
                      <a:pt x="474049" y="0"/>
                    </a:lnTo>
                    <a:cubicBezTo>
                      <a:pt x="556783" y="0"/>
                      <a:pt x="636128" y="32866"/>
                      <a:pt x="694630" y="91367"/>
                    </a:cubicBezTo>
                    <a:cubicBezTo>
                      <a:pt x="753131" y="149869"/>
                      <a:pt x="785997" y="229214"/>
                      <a:pt x="785997" y="311948"/>
                    </a:cubicBezTo>
                    <a:lnTo>
                      <a:pt x="785997" y="424505"/>
                    </a:lnTo>
                    <a:cubicBezTo>
                      <a:pt x="785997" y="507239"/>
                      <a:pt x="753131" y="586584"/>
                      <a:pt x="694630" y="645085"/>
                    </a:cubicBezTo>
                    <a:cubicBezTo>
                      <a:pt x="636128" y="703587"/>
                      <a:pt x="556783" y="736453"/>
                      <a:pt x="474049" y="736453"/>
                    </a:cubicBezTo>
                    <a:lnTo>
                      <a:pt x="311948" y="736453"/>
                    </a:lnTo>
                    <a:cubicBezTo>
                      <a:pt x="229214" y="736453"/>
                      <a:pt x="149869" y="703587"/>
                      <a:pt x="91367" y="645085"/>
                    </a:cubicBezTo>
                    <a:cubicBezTo>
                      <a:pt x="32866" y="586584"/>
                      <a:pt x="0" y="507239"/>
                      <a:pt x="0" y="424505"/>
                    </a:cubicBezTo>
                    <a:lnTo>
                      <a:pt x="0" y="311948"/>
                    </a:lnTo>
                    <a:cubicBezTo>
                      <a:pt x="0" y="229214"/>
                      <a:pt x="32866" y="149869"/>
                      <a:pt x="91367" y="91367"/>
                    </a:cubicBezTo>
                    <a:cubicBezTo>
                      <a:pt x="149869" y="32866"/>
                      <a:pt x="229214" y="0"/>
                      <a:pt x="3119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-110906"/>
                <a:ext cx="785997" cy="847359"/>
              </a:xfrm>
              <a:prstGeom prst="rect">
                <a:avLst/>
              </a:prstGeom>
            </p:spPr>
            <p:txBody>
              <a:bodyPr lIns="16544" tIns="16544" rIns="16544" bIns="16544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178102" y="12095"/>
              <a:ext cx="206334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9384" y="-47625"/>
              <a:ext cx="5252409" cy="4978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47"/>
                </a:lnSpc>
                <a:spcBef>
                  <a:spcPct val="0"/>
                </a:spcBef>
              </a:pPr>
              <a:r>
                <a:rPr lang="en-US" sz="153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뒤로가기</a:t>
              </a:r>
              <a:r>
                <a:rPr lang="en-US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3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버튼</a:t>
              </a:r>
              <a:r>
                <a:rPr lang="en-US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725923" y="2915470"/>
            <a:ext cx="3015896" cy="291824"/>
            <a:chOff x="0" y="12095"/>
            <a:chExt cx="6031793" cy="583647"/>
          </a:xfrm>
        </p:grpSpPr>
        <p:grpSp>
          <p:nvGrpSpPr>
            <p:cNvPr id="58" name="Group 58"/>
            <p:cNvGrpSpPr/>
            <p:nvPr/>
          </p:nvGrpSpPr>
          <p:grpSpPr>
            <a:xfrm>
              <a:off x="0" y="31750"/>
              <a:ext cx="562542" cy="527082"/>
              <a:chOff x="0" y="0"/>
              <a:chExt cx="785997" cy="73645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61" name="TextBox 61"/>
            <p:cNvSpPr txBox="1"/>
            <p:nvPr/>
          </p:nvSpPr>
          <p:spPr>
            <a:xfrm>
              <a:off x="178102" y="12095"/>
              <a:ext cx="206334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9384" y="97915"/>
              <a:ext cx="5252409" cy="4978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47"/>
                </a:lnSpc>
                <a:spcBef>
                  <a:spcPct val="0"/>
                </a:spcBef>
              </a:pPr>
              <a:r>
                <a:rPr lang="en-US" sz="153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장바구니에</a:t>
              </a:r>
              <a:r>
                <a:rPr lang="en-US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3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담긴</a:t>
              </a:r>
              <a:r>
                <a:rPr lang="en-US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533" dirty="0" err="1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상품</a:t>
              </a:r>
              <a:r>
                <a:rPr lang="en-US" sz="153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</a:p>
          </p:txBody>
        </p:sp>
      </p:grpSp>
      <p:sp>
        <p:nvSpPr>
          <p:cNvPr id="63" name="Freeform 63"/>
          <p:cNvSpPr/>
          <p:nvPr/>
        </p:nvSpPr>
        <p:spPr>
          <a:xfrm rot="10692886">
            <a:off x="4289514" y="5940008"/>
            <a:ext cx="460947" cy="332458"/>
          </a:xfrm>
          <a:custGeom>
            <a:avLst/>
            <a:gdLst/>
            <a:ahLst/>
            <a:cxnLst/>
            <a:rect l="l" t="t" r="r" b="b"/>
            <a:pathLst>
              <a:path w="691420" h="498687">
                <a:moveTo>
                  <a:pt x="0" y="0"/>
                </a:moveTo>
                <a:lnTo>
                  <a:pt x="691420" y="0"/>
                </a:lnTo>
                <a:lnTo>
                  <a:pt x="691420" y="498687"/>
                </a:lnTo>
                <a:lnTo>
                  <a:pt x="0" y="4986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4" name="TextBox 64"/>
          <p:cNvSpPr txBox="1"/>
          <p:nvPr/>
        </p:nvSpPr>
        <p:spPr>
          <a:xfrm>
            <a:off x="3728172" y="6245792"/>
            <a:ext cx="922886" cy="30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9"/>
              </a:lnSpc>
              <a:spcBef>
                <a:spcPct val="0"/>
              </a:spcBef>
            </a:pPr>
            <a:r>
              <a:rPr lang="en-US" sz="1835" b="1" dirty="0" err="1">
                <a:solidFill>
                  <a:srgbClr val="FF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추후</a:t>
            </a:r>
            <a:r>
              <a:rPr lang="en-US" sz="1835" b="1" dirty="0">
                <a:solidFill>
                  <a:srgbClr val="FF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 </a:t>
            </a:r>
            <a:r>
              <a:rPr lang="en-US" sz="1835" b="1" dirty="0" err="1">
                <a:solidFill>
                  <a:srgbClr val="FF0000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협의</a:t>
            </a:r>
            <a:endParaRPr lang="en-US" sz="1835" b="1" dirty="0">
              <a:solidFill>
                <a:srgbClr val="FF0000"/>
              </a:solidFill>
              <a:latin typeface="Noto Sans Kr Bold"/>
              <a:ea typeface="Noto Sans Kr Bold"/>
              <a:cs typeface="Noto Sans Kr Bold"/>
              <a:sym typeface="Noto Sans Kr Bold"/>
            </a:endParaRPr>
          </a:p>
        </p:txBody>
      </p:sp>
      <p:sp>
        <p:nvSpPr>
          <p:cNvPr id="65" name="직사각형 64">
            <a:hlinkClick r:id="rId8" action="ppaction://hlinksldjump"/>
            <a:extLst>
              <a:ext uri="{FF2B5EF4-FFF2-40B4-BE49-F238E27FC236}">
                <a16:creationId xmlns:a16="http://schemas.microsoft.com/office/drawing/2014/main" id="{ED968338-55D4-4E8D-A06F-33BD506A6F4F}"/>
              </a:ext>
            </a:extLst>
          </p:cNvPr>
          <p:cNvSpPr/>
          <p:nvPr/>
        </p:nvSpPr>
        <p:spPr>
          <a:xfrm>
            <a:off x="4893276" y="2231962"/>
            <a:ext cx="1474573" cy="2248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hlinkClick r:id="rId9" action="ppaction://hlinksldjump"/>
            <a:extLst>
              <a:ext uri="{FF2B5EF4-FFF2-40B4-BE49-F238E27FC236}">
                <a16:creationId xmlns:a16="http://schemas.microsoft.com/office/drawing/2014/main" id="{FADDE3F5-6AF3-47CB-8CCB-8B79F91C4A48}"/>
              </a:ext>
            </a:extLst>
          </p:cNvPr>
          <p:cNvSpPr/>
          <p:nvPr/>
        </p:nvSpPr>
        <p:spPr>
          <a:xfrm>
            <a:off x="799070" y="2933583"/>
            <a:ext cx="617838" cy="7157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ACDBEAD6-6F78-4CB1-ABF6-B959868D1BB5}"/>
              </a:ext>
            </a:extLst>
          </p:cNvPr>
          <p:cNvGrpSpPr/>
          <p:nvPr/>
        </p:nvGrpSpPr>
        <p:grpSpPr>
          <a:xfrm>
            <a:off x="8918141" y="278715"/>
            <a:ext cx="2536607" cy="501316"/>
            <a:chOff x="9258433" y="270419"/>
            <a:chExt cx="2536607" cy="501316"/>
          </a:xfrm>
        </p:grpSpPr>
        <p:sp>
          <p:nvSpPr>
            <p:cNvPr id="68" name="리본: 아래로 기울어짐 67">
              <a:extLst>
                <a:ext uri="{FF2B5EF4-FFF2-40B4-BE49-F238E27FC236}">
                  <a16:creationId xmlns:a16="http://schemas.microsoft.com/office/drawing/2014/main" id="{6F49170A-1410-4970-A1A2-E27A81CBEA48}"/>
                </a:ext>
              </a:extLst>
            </p:cNvPr>
            <p:cNvSpPr/>
            <p:nvPr/>
          </p:nvSpPr>
          <p:spPr>
            <a:xfrm>
              <a:off x="9258433" y="270419"/>
              <a:ext cx="2536607" cy="501316"/>
            </a:xfrm>
            <a:prstGeom prst="ribbon">
              <a:avLst>
                <a:gd name="adj1" fmla="val 16667"/>
                <a:gd name="adj2" fmla="val 75000"/>
              </a:avLst>
            </a:prstGeom>
            <a:ln w="3175"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C8A3CD1-27BF-4BFB-8475-E3CCC1F85382}"/>
                </a:ext>
              </a:extLst>
            </p:cNvPr>
            <p:cNvSpPr txBox="1"/>
            <p:nvPr/>
          </p:nvSpPr>
          <p:spPr>
            <a:xfrm>
              <a:off x="9529011" y="360027"/>
              <a:ext cx="21015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ln w="0"/>
                  <a:solidFill>
                    <a:srgbClr val="00206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장바구니 화면</a:t>
              </a:r>
              <a:endParaRPr lang="ko-KR" altLang="en-US" sz="2000" b="1" dirty="0">
                <a:solidFill>
                  <a:srgbClr val="002060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리본: 아래로 기울어짐 66">
            <a:extLst>
              <a:ext uri="{FF2B5EF4-FFF2-40B4-BE49-F238E27FC236}">
                <a16:creationId xmlns:a16="http://schemas.microsoft.com/office/drawing/2014/main" id="{BBF373F9-ABC3-4B6B-BFF4-19335DB93C42}"/>
              </a:ext>
            </a:extLst>
          </p:cNvPr>
          <p:cNvSpPr/>
          <p:nvPr/>
        </p:nvSpPr>
        <p:spPr>
          <a:xfrm>
            <a:off x="8195256" y="507849"/>
            <a:ext cx="2536607" cy="501316"/>
          </a:xfrm>
          <a:prstGeom prst="ribbon">
            <a:avLst>
              <a:gd name="adj1" fmla="val 16667"/>
              <a:gd name="adj2" fmla="val 75000"/>
            </a:avLst>
          </a:prstGeom>
          <a:ln w="3175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AAB178-A48A-4316-8545-E335DE0CA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33" y="254213"/>
            <a:ext cx="5140423" cy="5909463"/>
          </a:xfrm>
          <a:prstGeom prst="rect">
            <a:avLst/>
          </a:prstGeom>
        </p:spPr>
      </p:pic>
      <p:grpSp>
        <p:nvGrpSpPr>
          <p:cNvPr id="4" name="Group 6">
            <a:extLst>
              <a:ext uri="{FF2B5EF4-FFF2-40B4-BE49-F238E27FC236}">
                <a16:creationId xmlns:a16="http://schemas.microsoft.com/office/drawing/2014/main" id="{49C16664-AEC1-45EB-BF47-739133415553}"/>
              </a:ext>
            </a:extLst>
          </p:cNvPr>
          <p:cNvGrpSpPr/>
          <p:nvPr/>
        </p:nvGrpSpPr>
        <p:grpSpPr>
          <a:xfrm>
            <a:off x="5825075" y="824701"/>
            <a:ext cx="281271" cy="273369"/>
            <a:chOff x="0" y="-19655"/>
            <a:chExt cx="562542" cy="546737"/>
          </a:xfrm>
        </p:grpSpPr>
        <p:grpSp>
          <p:nvGrpSpPr>
            <p:cNvPr id="5" name="Group 7">
              <a:extLst>
                <a:ext uri="{FF2B5EF4-FFF2-40B4-BE49-F238E27FC236}">
                  <a16:creationId xmlns:a16="http://schemas.microsoft.com/office/drawing/2014/main" id="{7F7F1939-977F-465D-B64C-75EDC93B766A}"/>
                </a:ext>
              </a:extLst>
            </p:cNvPr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7" name="Freeform 8">
                <a:extLst>
                  <a:ext uri="{FF2B5EF4-FFF2-40B4-BE49-F238E27FC236}">
                    <a16:creationId xmlns:a16="http://schemas.microsoft.com/office/drawing/2014/main" id="{C3E54BE4-CA48-44E8-B8DF-E3318BE2C044}"/>
                  </a:ext>
                </a:extLst>
              </p:cNvPr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8" name="TextBox 9">
                <a:extLst>
                  <a:ext uri="{FF2B5EF4-FFF2-40B4-BE49-F238E27FC236}">
                    <a16:creationId xmlns:a16="http://schemas.microsoft.com/office/drawing/2014/main" id="{17FC7BE1-AD20-45CC-9411-D51D06620F02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C2ED4168-67AF-4E2D-BE90-4B8438AAFEA7}"/>
                </a:ext>
              </a:extLst>
            </p:cNvPr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2</a:t>
              </a:r>
            </a:p>
          </p:txBody>
        </p:sp>
      </p:grpSp>
      <p:grpSp>
        <p:nvGrpSpPr>
          <p:cNvPr id="14" name="Group 16">
            <a:extLst>
              <a:ext uri="{FF2B5EF4-FFF2-40B4-BE49-F238E27FC236}">
                <a16:creationId xmlns:a16="http://schemas.microsoft.com/office/drawing/2014/main" id="{0F5CCF23-2830-4F8C-9B92-22CCCB6D610A}"/>
              </a:ext>
            </a:extLst>
          </p:cNvPr>
          <p:cNvGrpSpPr/>
          <p:nvPr/>
        </p:nvGrpSpPr>
        <p:grpSpPr>
          <a:xfrm>
            <a:off x="751128" y="814875"/>
            <a:ext cx="1716733" cy="283195"/>
            <a:chOff x="0" y="0"/>
            <a:chExt cx="678215" cy="111879"/>
          </a:xfrm>
        </p:grpSpPr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3F61410C-47DD-40A1-A7D3-BB9CDE5AFD49}"/>
                </a:ext>
              </a:extLst>
            </p:cNvPr>
            <p:cNvSpPr/>
            <p:nvPr/>
          </p:nvSpPr>
          <p:spPr>
            <a:xfrm>
              <a:off x="0" y="0"/>
              <a:ext cx="678215" cy="111879"/>
            </a:xfrm>
            <a:custGeom>
              <a:avLst/>
              <a:gdLst/>
              <a:ahLst/>
              <a:cxnLst/>
              <a:rect l="l" t="t" r="r" b="b"/>
              <a:pathLst>
                <a:path w="678215" h="111879">
                  <a:moveTo>
                    <a:pt x="51110" y="0"/>
                  </a:moveTo>
                  <a:lnTo>
                    <a:pt x="627106" y="0"/>
                  </a:lnTo>
                  <a:cubicBezTo>
                    <a:pt x="655333" y="0"/>
                    <a:pt x="678215" y="22883"/>
                    <a:pt x="678215" y="51110"/>
                  </a:cubicBezTo>
                  <a:lnTo>
                    <a:pt x="678215" y="60770"/>
                  </a:lnTo>
                  <a:cubicBezTo>
                    <a:pt x="678215" y="88997"/>
                    <a:pt x="655333" y="111879"/>
                    <a:pt x="627106" y="111879"/>
                  </a:cubicBezTo>
                  <a:lnTo>
                    <a:pt x="51110" y="111879"/>
                  </a:lnTo>
                  <a:cubicBezTo>
                    <a:pt x="22883" y="111879"/>
                    <a:pt x="0" y="88997"/>
                    <a:pt x="0" y="60770"/>
                  </a:cubicBezTo>
                  <a:lnTo>
                    <a:pt x="0" y="51110"/>
                  </a:lnTo>
                  <a:cubicBezTo>
                    <a:pt x="0" y="22883"/>
                    <a:pt x="22883" y="0"/>
                    <a:pt x="51110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16" name="TextBox 18">
              <a:extLst>
                <a:ext uri="{FF2B5EF4-FFF2-40B4-BE49-F238E27FC236}">
                  <a16:creationId xmlns:a16="http://schemas.microsoft.com/office/drawing/2014/main" id="{063426E7-0144-4C12-9904-031C8E919FF7}"/>
                </a:ext>
              </a:extLst>
            </p:cNvPr>
            <p:cNvSpPr txBox="1"/>
            <p:nvPr/>
          </p:nvSpPr>
          <p:spPr>
            <a:xfrm>
              <a:off x="0" y="-47625"/>
              <a:ext cx="678215" cy="15950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27"/>
                </a:lnSpc>
              </a:pPr>
              <a:endParaRPr sz="1200"/>
            </a:p>
          </p:txBody>
        </p:sp>
      </p:grpSp>
      <p:grpSp>
        <p:nvGrpSpPr>
          <p:cNvPr id="17" name="Group 19">
            <a:extLst>
              <a:ext uri="{FF2B5EF4-FFF2-40B4-BE49-F238E27FC236}">
                <a16:creationId xmlns:a16="http://schemas.microsoft.com/office/drawing/2014/main" id="{7F90FE93-B86F-47F5-AC71-77EB0179D842}"/>
              </a:ext>
            </a:extLst>
          </p:cNvPr>
          <p:cNvGrpSpPr/>
          <p:nvPr/>
        </p:nvGrpSpPr>
        <p:grpSpPr>
          <a:xfrm>
            <a:off x="2327225" y="644880"/>
            <a:ext cx="281271" cy="273369"/>
            <a:chOff x="0" y="-19655"/>
            <a:chExt cx="562542" cy="546737"/>
          </a:xfrm>
        </p:grpSpPr>
        <p:grpSp>
          <p:nvGrpSpPr>
            <p:cNvPr id="18" name="Group 20">
              <a:extLst>
                <a:ext uri="{FF2B5EF4-FFF2-40B4-BE49-F238E27FC236}">
                  <a16:creationId xmlns:a16="http://schemas.microsoft.com/office/drawing/2014/main" id="{C82652E0-956E-4202-97ED-EAE0067230AA}"/>
                </a:ext>
              </a:extLst>
            </p:cNvPr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20" name="Freeform 21">
                <a:extLst>
                  <a:ext uri="{FF2B5EF4-FFF2-40B4-BE49-F238E27FC236}">
                    <a16:creationId xmlns:a16="http://schemas.microsoft.com/office/drawing/2014/main" id="{F2F6F203-D409-4C5D-A810-CD69053A4BD6}"/>
                  </a:ext>
                </a:extLst>
              </p:cNvPr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21" name="TextBox 22">
                <a:extLst>
                  <a:ext uri="{FF2B5EF4-FFF2-40B4-BE49-F238E27FC236}">
                    <a16:creationId xmlns:a16="http://schemas.microsoft.com/office/drawing/2014/main" id="{825F5360-F063-4956-AA10-A4C28D6EE3A2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19" name="TextBox 23">
              <a:extLst>
                <a:ext uri="{FF2B5EF4-FFF2-40B4-BE49-F238E27FC236}">
                  <a16:creationId xmlns:a16="http://schemas.microsoft.com/office/drawing/2014/main" id="{2A87E112-B187-4ACE-8974-7F3E1B06538C}"/>
                </a:ext>
              </a:extLst>
            </p:cNvPr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</a:t>
              </a:r>
            </a:p>
          </p:txBody>
        </p:sp>
      </p:grpSp>
      <p:grpSp>
        <p:nvGrpSpPr>
          <p:cNvPr id="22" name="Group 50">
            <a:extLst>
              <a:ext uri="{FF2B5EF4-FFF2-40B4-BE49-F238E27FC236}">
                <a16:creationId xmlns:a16="http://schemas.microsoft.com/office/drawing/2014/main" id="{6C846830-0B75-41DC-8C8B-D1E145F733DA}"/>
              </a:ext>
            </a:extLst>
          </p:cNvPr>
          <p:cNvGrpSpPr/>
          <p:nvPr/>
        </p:nvGrpSpPr>
        <p:grpSpPr>
          <a:xfrm>
            <a:off x="786532" y="2947750"/>
            <a:ext cx="5086777" cy="3336477"/>
            <a:chOff x="0" y="0"/>
            <a:chExt cx="1706535" cy="784722"/>
          </a:xfrm>
        </p:grpSpPr>
        <p:sp>
          <p:nvSpPr>
            <p:cNvPr id="23" name="Freeform 51">
              <a:extLst>
                <a:ext uri="{FF2B5EF4-FFF2-40B4-BE49-F238E27FC236}">
                  <a16:creationId xmlns:a16="http://schemas.microsoft.com/office/drawing/2014/main" id="{8858893C-FB47-4DD0-8422-AE901F0EFFC4}"/>
                </a:ext>
              </a:extLst>
            </p:cNvPr>
            <p:cNvSpPr/>
            <p:nvPr/>
          </p:nvSpPr>
          <p:spPr>
            <a:xfrm>
              <a:off x="0" y="0"/>
              <a:ext cx="1706535" cy="784722"/>
            </a:xfrm>
            <a:custGeom>
              <a:avLst/>
              <a:gdLst/>
              <a:ahLst/>
              <a:cxnLst/>
              <a:rect l="l" t="t" r="r" b="b"/>
              <a:pathLst>
                <a:path w="1706535" h="784722">
                  <a:moveTo>
                    <a:pt x="20312" y="0"/>
                  </a:moveTo>
                  <a:lnTo>
                    <a:pt x="1686223" y="0"/>
                  </a:lnTo>
                  <a:cubicBezTo>
                    <a:pt x="1691610" y="0"/>
                    <a:pt x="1696777" y="2140"/>
                    <a:pt x="1700586" y="5949"/>
                  </a:cubicBezTo>
                  <a:cubicBezTo>
                    <a:pt x="1704395" y="9759"/>
                    <a:pt x="1706535" y="14925"/>
                    <a:pt x="1706535" y="20312"/>
                  </a:cubicBezTo>
                  <a:lnTo>
                    <a:pt x="1706535" y="764410"/>
                  </a:lnTo>
                  <a:cubicBezTo>
                    <a:pt x="1706535" y="769797"/>
                    <a:pt x="1704395" y="774963"/>
                    <a:pt x="1700586" y="778773"/>
                  </a:cubicBezTo>
                  <a:cubicBezTo>
                    <a:pt x="1696777" y="782582"/>
                    <a:pt x="1691610" y="784722"/>
                    <a:pt x="1686223" y="784722"/>
                  </a:cubicBezTo>
                  <a:lnTo>
                    <a:pt x="20312" y="784722"/>
                  </a:lnTo>
                  <a:cubicBezTo>
                    <a:pt x="14925" y="784722"/>
                    <a:pt x="9759" y="782582"/>
                    <a:pt x="5949" y="778773"/>
                  </a:cubicBezTo>
                  <a:cubicBezTo>
                    <a:pt x="2140" y="774963"/>
                    <a:pt x="0" y="769797"/>
                    <a:pt x="0" y="764410"/>
                  </a:cubicBezTo>
                  <a:lnTo>
                    <a:pt x="0" y="20312"/>
                  </a:lnTo>
                  <a:cubicBezTo>
                    <a:pt x="0" y="14925"/>
                    <a:pt x="2140" y="9759"/>
                    <a:pt x="5949" y="5949"/>
                  </a:cubicBezTo>
                  <a:cubicBezTo>
                    <a:pt x="9759" y="2140"/>
                    <a:pt x="14925" y="0"/>
                    <a:pt x="20312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24" name="TextBox 52">
              <a:extLst>
                <a:ext uri="{FF2B5EF4-FFF2-40B4-BE49-F238E27FC236}">
                  <a16:creationId xmlns:a16="http://schemas.microsoft.com/office/drawing/2014/main" id="{4CF0141A-A26E-400C-853C-B6364948DBE6}"/>
                </a:ext>
              </a:extLst>
            </p:cNvPr>
            <p:cNvSpPr txBox="1"/>
            <p:nvPr/>
          </p:nvSpPr>
          <p:spPr>
            <a:xfrm>
              <a:off x="0" y="-47625"/>
              <a:ext cx="1706535" cy="83234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27"/>
                </a:lnSpc>
              </a:pPr>
              <a:endParaRPr sz="1200"/>
            </a:p>
          </p:txBody>
        </p:sp>
      </p:grpSp>
      <p:grpSp>
        <p:nvGrpSpPr>
          <p:cNvPr id="30" name="Group 69">
            <a:extLst>
              <a:ext uri="{FF2B5EF4-FFF2-40B4-BE49-F238E27FC236}">
                <a16:creationId xmlns:a16="http://schemas.microsoft.com/office/drawing/2014/main" id="{38EB106D-9041-4233-80CD-795A77BB0991}"/>
              </a:ext>
            </a:extLst>
          </p:cNvPr>
          <p:cNvGrpSpPr/>
          <p:nvPr/>
        </p:nvGrpSpPr>
        <p:grpSpPr>
          <a:xfrm>
            <a:off x="5681090" y="2835315"/>
            <a:ext cx="281271" cy="273369"/>
            <a:chOff x="0" y="-19655"/>
            <a:chExt cx="562542" cy="546737"/>
          </a:xfrm>
        </p:grpSpPr>
        <p:grpSp>
          <p:nvGrpSpPr>
            <p:cNvPr id="31" name="Group 70">
              <a:extLst>
                <a:ext uri="{FF2B5EF4-FFF2-40B4-BE49-F238E27FC236}">
                  <a16:creationId xmlns:a16="http://schemas.microsoft.com/office/drawing/2014/main" id="{F0CD5197-A44A-4C76-897E-E3245E22B0E6}"/>
                </a:ext>
              </a:extLst>
            </p:cNvPr>
            <p:cNvGrpSpPr/>
            <p:nvPr/>
          </p:nvGrpSpPr>
          <p:grpSpPr>
            <a:xfrm>
              <a:off x="0" y="0"/>
              <a:ext cx="562542" cy="527082"/>
              <a:chOff x="0" y="0"/>
              <a:chExt cx="785997" cy="736453"/>
            </a:xfrm>
          </p:grpSpPr>
          <p:sp>
            <p:nvSpPr>
              <p:cNvPr id="33" name="Freeform 71">
                <a:extLst>
                  <a:ext uri="{FF2B5EF4-FFF2-40B4-BE49-F238E27FC236}">
                    <a16:creationId xmlns:a16="http://schemas.microsoft.com/office/drawing/2014/main" id="{47926A89-51A0-4DE5-B157-7C3DA7A82C15}"/>
                  </a:ext>
                </a:extLst>
              </p:cNvPr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34" name="TextBox 72">
                <a:extLst>
                  <a:ext uri="{FF2B5EF4-FFF2-40B4-BE49-F238E27FC236}">
                    <a16:creationId xmlns:a16="http://schemas.microsoft.com/office/drawing/2014/main" id="{2D19728E-0558-48DA-8A6A-0FDFA22A3C2C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32" name="TextBox 73">
              <a:extLst>
                <a:ext uri="{FF2B5EF4-FFF2-40B4-BE49-F238E27FC236}">
                  <a16:creationId xmlns:a16="http://schemas.microsoft.com/office/drawing/2014/main" id="{F7D8223F-67CF-4C12-AD98-46F08227113E}"/>
                </a:ext>
              </a:extLst>
            </p:cNvPr>
            <p:cNvSpPr txBox="1"/>
            <p:nvPr/>
          </p:nvSpPr>
          <p:spPr>
            <a:xfrm>
              <a:off x="178104" y="-19655"/>
              <a:ext cx="206336" cy="449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</a:pPr>
              <a:r>
                <a:rPr lang="en-US" sz="1377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3</a:t>
              </a:r>
            </a:p>
          </p:txBody>
        </p:sp>
      </p:grpSp>
      <p:grpSp>
        <p:nvGrpSpPr>
          <p:cNvPr id="35" name="Group 3">
            <a:extLst>
              <a:ext uri="{FF2B5EF4-FFF2-40B4-BE49-F238E27FC236}">
                <a16:creationId xmlns:a16="http://schemas.microsoft.com/office/drawing/2014/main" id="{F22B093B-6ED5-429E-917D-15D61704B0E3}"/>
              </a:ext>
            </a:extLst>
          </p:cNvPr>
          <p:cNvGrpSpPr/>
          <p:nvPr/>
        </p:nvGrpSpPr>
        <p:grpSpPr>
          <a:xfrm>
            <a:off x="7689932" y="1359286"/>
            <a:ext cx="3537543" cy="2530925"/>
            <a:chOff x="0" y="0"/>
            <a:chExt cx="1332593" cy="1145974"/>
          </a:xfrm>
        </p:grpSpPr>
        <p:sp>
          <p:nvSpPr>
            <p:cNvPr id="36" name="Freeform 4">
              <a:extLst>
                <a:ext uri="{FF2B5EF4-FFF2-40B4-BE49-F238E27FC236}">
                  <a16:creationId xmlns:a16="http://schemas.microsoft.com/office/drawing/2014/main" id="{07859605-3E7E-4D54-91A1-A0BD1A6EAA9F}"/>
                </a:ext>
              </a:extLst>
            </p:cNvPr>
            <p:cNvSpPr/>
            <p:nvPr/>
          </p:nvSpPr>
          <p:spPr>
            <a:xfrm>
              <a:off x="0" y="0"/>
              <a:ext cx="1332593" cy="1145974"/>
            </a:xfrm>
            <a:custGeom>
              <a:avLst/>
              <a:gdLst/>
              <a:ahLst/>
              <a:cxnLst/>
              <a:rect l="l" t="t" r="r" b="b"/>
              <a:pathLst>
                <a:path w="1332593" h="1145974">
                  <a:moveTo>
                    <a:pt x="20486" y="0"/>
                  </a:moveTo>
                  <a:lnTo>
                    <a:pt x="1312107" y="0"/>
                  </a:lnTo>
                  <a:cubicBezTo>
                    <a:pt x="1317540" y="0"/>
                    <a:pt x="1322751" y="2158"/>
                    <a:pt x="1326593" y="6000"/>
                  </a:cubicBezTo>
                  <a:cubicBezTo>
                    <a:pt x="1330435" y="9842"/>
                    <a:pt x="1332593" y="15053"/>
                    <a:pt x="1332593" y="20486"/>
                  </a:cubicBezTo>
                  <a:lnTo>
                    <a:pt x="1332593" y="1125488"/>
                  </a:lnTo>
                  <a:cubicBezTo>
                    <a:pt x="1332593" y="1130921"/>
                    <a:pt x="1330435" y="1136132"/>
                    <a:pt x="1326593" y="1139973"/>
                  </a:cubicBezTo>
                  <a:cubicBezTo>
                    <a:pt x="1322751" y="1143815"/>
                    <a:pt x="1317540" y="1145974"/>
                    <a:pt x="1312107" y="1145974"/>
                  </a:cubicBezTo>
                  <a:lnTo>
                    <a:pt x="20486" y="1145974"/>
                  </a:lnTo>
                  <a:cubicBezTo>
                    <a:pt x="15053" y="1145974"/>
                    <a:pt x="9842" y="1143815"/>
                    <a:pt x="6000" y="1139973"/>
                  </a:cubicBezTo>
                  <a:cubicBezTo>
                    <a:pt x="2158" y="1136132"/>
                    <a:pt x="0" y="1130921"/>
                    <a:pt x="0" y="1125488"/>
                  </a:cubicBezTo>
                  <a:lnTo>
                    <a:pt x="0" y="20486"/>
                  </a:lnTo>
                  <a:cubicBezTo>
                    <a:pt x="0" y="15053"/>
                    <a:pt x="2158" y="9842"/>
                    <a:pt x="6000" y="6000"/>
                  </a:cubicBezTo>
                  <a:cubicBezTo>
                    <a:pt x="9842" y="2158"/>
                    <a:pt x="15053" y="0"/>
                    <a:pt x="20486" y="0"/>
                  </a:cubicBez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id="37" name="TextBox 5">
              <a:extLst>
                <a:ext uri="{FF2B5EF4-FFF2-40B4-BE49-F238E27FC236}">
                  <a16:creationId xmlns:a16="http://schemas.microsoft.com/office/drawing/2014/main" id="{89C5E020-F9FD-458D-BDE5-DB278DA07AF7}"/>
                </a:ext>
              </a:extLst>
            </p:cNvPr>
            <p:cNvSpPr txBox="1"/>
            <p:nvPr/>
          </p:nvSpPr>
          <p:spPr>
            <a:xfrm>
              <a:off x="0" y="-28575"/>
              <a:ext cx="1332593" cy="117454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grpSp>
        <p:nvGrpSpPr>
          <p:cNvPr id="38" name="Group 24">
            <a:extLst>
              <a:ext uri="{FF2B5EF4-FFF2-40B4-BE49-F238E27FC236}">
                <a16:creationId xmlns:a16="http://schemas.microsoft.com/office/drawing/2014/main" id="{DFCA3245-6AC1-48F9-B751-D4A8D3D7A048}"/>
              </a:ext>
            </a:extLst>
          </p:cNvPr>
          <p:cNvGrpSpPr/>
          <p:nvPr/>
        </p:nvGrpSpPr>
        <p:grpSpPr>
          <a:xfrm>
            <a:off x="8031274" y="1473039"/>
            <a:ext cx="3677496" cy="3142949"/>
            <a:chOff x="0" y="-302804"/>
            <a:chExt cx="7354993" cy="6285896"/>
          </a:xfrm>
        </p:grpSpPr>
        <p:grpSp>
          <p:nvGrpSpPr>
            <p:cNvPr id="39" name="Group 25">
              <a:extLst>
                <a:ext uri="{FF2B5EF4-FFF2-40B4-BE49-F238E27FC236}">
                  <a16:creationId xmlns:a16="http://schemas.microsoft.com/office/drawing/2014/main" id="{0DC0880C-2A32-41DF-8BC8-C726E6F582B8}"/>
                </a:ext>
              </a:extLst>
            </p:cNvPr>
            <p:cNvGrpSpPr/>
            <p:nvPr/>
          </p:nvGrpSpPr>
          <p:grpSpPr>
            <a:xfrm>
              <a:off x="0" y="0"/>
              <a:ext cx="714288" cy="669264"/>
              <a:chOff x="0" y="0"/>
              <a:chExt cx="785997" cy="736453"/>
            </a:xfrm>
          </p:grpSpPr>
          <p:sp>
            <p:nvSpPr>
              <p:cNvPr id="62" name="Freeform 26">
                <a:extLst>
                  <a:ext uri="{FF2B5EF4-FFF2-40B4-BE49-F238E27FC236}">
                    <a16:creationId xmlns:a16="http://schemas.microsoft.com/office/drawing/2014/main" id="{D64CF3B7-3DFC-4EC5-8DDA-595FA88BF5EC}"/>
                  </a:ext>
                </a:extLst>
              </p:cNvPr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63" name="TextBox 27">
                <a:extLst>
                  <a:ext uri="{FF2B5EF4-FFF2-40B4-BE49-F238E27FC236}">
                    <a16:creationId xmlns:a16="http://schemas.microsoft.com/office/drawing/2014/main" id="{C3FEDF62-C9EE-44F6-AA95-6A873FA0CECF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40" name="TextBox 28">
              <a:extLst>
                <a:ext uri="{FF2B5EF4-FFF2-40B4-BE49-F238E27FC236}">
                  <a16:creationId xmlns:a16="http://schemas.microsoft.com/office/drawing/2014/main" id="{D6214792-01DF-48A8-9EDC-FBE901647C65}"/>
                </a:ext>
              </a:extLst>
            </p:cNvPr>
            <p:cNvSpPr txBox="1"/>
            <p:nvPr/>
          </p:nvSpPr>
          <p:spPr>
            <a:xfrm>
              <a:off x="226146" y="-12110"/>
              <a:ext cx="261992" cy="568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7"/>
                </a:lnSpc>
              </a:pPr>
              <a:r>
                <a:rPr lang="en-US" sz="1748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1</a:t>
              </a:r>
            </a:p>
          </p:txBody>
        </p:sp>
        <p:grpSp>
          <p:nvGrpSpPr>
            <p:cNvPr id="41" name="Group 29">
              <a:extLst>
                <a:ext uri="{FF2B5EF4-FFF2-40B4-BE49-F238E27FC236}">
                  <a16:creationId xmlns:a16="http://schemas.microsoft.com/office/drawing/2014/main" id="{ADC0FC2F-90F8-4143-A5A7-C50687CF80B7}"/>
                </a:ext>
              </a:extLst>
            </p:cNvPr>
            <p:cNvGrpSpPr/>
            <p:nvPr/>
          </p:nvGrpSpPr>
          <p:grpSpPr>
            <a:xfrm>
              <a:off x="0" y="1057642"/>
              <a:ext cx="714288" cy="669264"/>
              <a:chOff x="0" y="0"/>
              <a:chExt cx="785997" cy="736453"/>
            </a:xfrm>
          </p:grpSpPr>
          <p:sp>
            <p:nvSpPr>
              <p:cNvPr id="60" name="Freeform 30">
                <a:extLst>
                  <a:ext uri="{FF2B5EF4-FFF2-40B4-BE49-F238E27FC236}">
                    <a16:creationId xmlns:a16="http://schemas.microsoft.com/office/drawing/2014/main" id="{30FB443E-3FEF-4884-A320-1E63D36F56EE}"/>
                  </a:ext>
                </a:extLst>
              </p:cNvPr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61" name="TextBox 31">
                <a:extLst>
                  <a:ext uri="{FF2B5EF4-FFF2-40B4-BE49-F238E27FC236}">
                    <a16:creationId xmlns:a16="http://schemas.microsoft.com/office/drawing/2014/main" id="{E40E53C7-DE20-46EC-93BF-CC59CECC0029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42" name="TextBox 32">
              <a:extLst>
                <a:ext uri="{FF2B5EF4-FFF2-40B4-BE49-F238E27FC236}">
                  <a16:creationId xmlns:a16="http://schemas.microsoft.com/office/drawing/2014/main" id="{F2AF9D65-794F-4C8E-9AA1-04D6F2090999}"/>
                </a:ext>
              </a:extLst>
            </p:cNvPr>
            <p:cNvSpPr txBox="1"/>
            <p:nvPr/>
          </p:nvSpPr>
          <p:spPr>
            <a:xfrm>
              <a:off x="226146" y="1045532"/>
              <a:ext cx="261992" cy="568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7"/>
                </a:lnSpc>
              </a:pPr>
              <a:r>
                <a:rPr lang="en-US" sz="1748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2</a:t>
              </a:r>
            </a:p>
          </p:txBody>
        </p:sp>
        <p:grpSp>
          <p:nvGrpSpPr>
            <p:cNvPr id="43" name="Group 33">
              <a:extLst>
                <a:ext uri="{FF2B5EF4-FFF2-40B4-BE49-F238E27FC236}">
                  <a16:creationId xmlns:a16="http://schemas.microsoft.com/office/drawing/2014/main" id="{BD9B921A-B43D-48E2-9B80-6FC369B083C1}"/>
                </a:ext>
              </a:extLst>
            </p:cNvPr>
            <p:cNvGrpSpPr/>
            <p:nvPr/>
          </p:nvGrpSpPr>
          <p:grpSpPr>
            <a:xfrm>
              <a:off x="0" y="2113926"/>
              <a:ext cx="714288" cy="669264"/>
              <a:chOff x="0" y="0"/>
              <a:chExt cx="785997" cy="736453"/>
            </a:xfrm>
          </p:grpSpPr>
          <p:sp>
            <p:nvSpPr>
              <p:cNvPr id="58" name="Freeform 34">
                <a:extLst>
                  <a:ext uri="{FF2B5EF4-FFF2-40B4-BE49-F238E27FC236}">
                    <a16:creationId xmlns:a16="http://schemas.microsoft.com/office/drawing/2014/main" id="{D2C89D2B-F43D-4948-B217-56D07E5C7060}"/>
                  </a:ext>
                </a:extLst>
              </p:cNvPr>
              <p:cNvSpPr/>
              <p:nvPr/>
            </p:nvSpPr>
            <p:spPr>
              <a:xfrm>
                <a:off x="0" y="0"/>
                <a:ext cx="785997" cy="736453"/>
              </a:xfrm>
              <a:custGeom>
                <a:avLst/>
                <a:gdLst/>
                <a:ahLst/>
                <a:cxnLst/>
                <a:rect l="l" t="t" r="r" b="b"/>
                <a:pathLst>
                  <a:path w="785997" h="736453">
                    <a:moveTo>
                      <a:pt x="152385" y="0"/>
                    </a:moveTo>
                    <a:lnTo>
                      <a:pt x="633612" y="0"/>
                    </a:lnTo>
                    <a:cubicBezTo>
                      <a:pt x="674027" y="0"/>
                      <a:pt x="712787" y="16055"/>
                      <a:pt x="741364" y="44633"/>
                    </a:cubicBezTo>
                    <a:cubicBezTo>
                      <a:pt x="769942" y="73210"/>
                      <a:pt x="785997" y="111970"/>
                      <a:pt x="785997" y="152385"/>
                    </a:cubicBezTo>
                    <a:lnTo>
                      <a:pt x="785997" y="584067"/>
                    </a:lnTo>
                    <a:cubicBezTo>
                      <a:pt x="785997" y="624482"/>
                      <a:pt x="769942" y="663242"/>
                      <a:pt x="741364" y="691820"/>
                    </a:cubicBezTo>
                    <a:cubicBezTo>
                      <a:pt x="712787" y="720398"/>
                      <a:pt x="674027" y="736453"/>
                      <a:pt x="633612" y="736453"/>
                    </a:cubicBezTo>
                    <a:lnTo>
                      <a:pt x="152385" y="736453"/>
                    </a:lnTo>
                    <a:cubicBezTo>
                      <a:pt x="111970" y="736453"/>
                      <a:pt x="73210" y="720398"/>
                      <a:pt x="44633" y="691820"/>
                    </a:cubicBezTo>
                    <a:cubicBezTo>
                      <a:pt x="16055" y="663242"/>
                      <a:pt x="0" y="624482"/>
                      <a:pt x="0" y="584067"/>
                    </a:cubicBezTo>
                    <a:lnTo>
                      <a:pt x="0" y="152385"/>
                    </a:lnTo>
                    <a:cubicBezTo>
                      <a:pt x="0" y="111970"/>
                      <a:pt x="16055" y="73210"/>
                      <a:pt x="44633" y="44633"/>
                    </a:cubicBezTo>
                    <a:cubicBezTo>
                      <a:pt x="73210" y="16055"/>
                      <a:pt x="111970" y="0"/>
                      <a:pt x="1523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id="59" name="TextBox 35">
                <a:extLst>
                  <a:ext uri="{FF2B5EF4-FFF2-40B4-BE49-F238E27FC236}">
                    <a16:creationId xmlns:a16="http://schemas.microsoft.com/office/drawing/2014/main" id="{6AE37518-48CD-4745-9F3C-4C6532F01AF8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785997" cy="803128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2800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44" name="TextBox 36">
              <a:extLst>
                <a:ext uri="{FF2B5EF4-FFF2-40B4-BE49-F238E27FC236}">
                  <a16:creationId xmlns:a16="http://schemas.microsoft.com/office/drawing/2014/main" id="{FCEF51A0-FFE2-4DAE-BBEC-8EA360A62380}"/>
                </a:ext>
              </a:extLst>
            </p:cNvPr>
            <p:cNvSpPr txBox="1"/>
            <p:nvPr/>
          </p:nvSpPr>
          <p:spPr>
            <a:xfrm>
              <a:off x="226146" y="2101815"/>
              <a:ext cx="261992" cy="568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47"/>
                </a:lnSpc>
              </a:pPr>
              <a:r>
                <a:rPr lang="en-US" sz="1748" b="1">
                  <a:solidFill>
                    <a:srgbClr val="000000"/>
                  </a:solidFill>
                  <a:latin typeface="Noto Sans Kr Bold"/>
                  <a:ea typeface="Noto Sans Kr Bold"/>
                  <a:cs typeface="Noto Sans Kr Bold"/>
                  <a:sym typeface="Noto Sans Kr Bold"/>
                </a:rPr>
                <a:t>3</a:t>
              </a:r>
            </a:p>
          </p:txBody>
        </p:sp>
        <p:sp>
          <p:nvSpPr>
            <p:cNvPr id="55" name="TextBox 43">
              <a:extLst>
                <a:ext uri="{FF2B5EF4-FFF2-40B4-BE49-F238E27FC236}">
                  <a16:creationId xmlns:a16="http://schemas.microsoft.com/office/drawing/2014/main" id="{93C3F7B4-B1C5-4906-A065-1B08152425DE}"/>
                </a:ext>
              </a:extLst>
            </p:cNvPr>
            <p:cNvSpPr txBox="1"/>
            <p:nvPr/>
          </p:nvSpPr>
          <p:spPr>
            <a:xfrm>
              <a:off x="0" y="4207497"/>
              <a:ext cx="714288" cy="72985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endParaRPr sz="1200"/>
            </a:p>
          </p:txBody>
        </p:sp>
        <p:sp>
          <p:nvSpPr>
            <p:cNvPr id="53" name="TextBox 47">
              <a:extLst>
                <a:ext uri="{FF2B5EF4-FFF2-40B4-BE49-F238E27FC236}">
                  <a16:creationId xmlns:a16="http://schemas.microsoft.com/office/drawing/2014/main" id="{6998D13C-8EA2-4BE2-AB17-29067733F8EE}"/>
                </a:ext>
              </a:extLst>
            </p:cNvPr>
            <p:cNvSpPr txBox="1"/>
            <p:nvPr/>
          </p:nvSpPr>
          <p:spPr>
            <a:xfrm>
              <a:off x="0" y="5253236"/>
              <a:ext cx="714288" cy="72985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endParaRPr sz="1200"/>
            </a:p>
          </p:txBody>
        </p:sp>
        <p:sp>
          <p:nvSpPr>
            <p:cNvPr id="51" name="TextBox 49">
              <a:extLst>
                <a:ext uri="{FF2B5EF4-FFF2-40B4-BE49-F238E27FC236}">
                  <a16:creationId xmlns:a16="http://schemas.microsoft.com/office/drawing/2014/main" id="{23D0FC94-E198-45A2-8BBF-6860B491B4B1}"/>
                </a:ext>
              </a:extLst>
            </p:cNvPr>
            <p:cNvSpPr txBox="1"/>
            <p:nvPr/>
          </p:nvSpPr>
          <p:spPr>
            <a:xfrm>
              <a:off x="940434" y="-302804"/>
              <a:ext cx="6414559" cy="41457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32"/>
                </a:lnSpc>
              </a:pPr>
              <a:r>
                <a:rPr lang="ko-KR" altLang="en-US" sz="169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최근 및 기간 구매목록</a:t>
              </a:r>
              <a:r>
                <a:rPr lang="en-US" sz="169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ko-KR" altLang="en-US" sz="169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조회</a:t>
              </a:r>
              <a:endParaRPr lang="en-US" sz="1693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>
                <a:lnSpc>
                  <a:spcPts val="4232"/>
                </a:lnSpc>
              </a:pPr>
              <a:r>
                <a:rPr lang="ko-KR" altLang="en-US" sz="169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특정 기간 구매 목록 확인</a:t>
              </a:r>
              <a:endParaRPr lang="en-US" altLang="ko-KR" sz="1693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169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분석 결과 팝업창으로 확인</a:t>
              </a:r>
              <a:endParaRPr lang="en-US" altLang="ko-KR" sz="1693" dirty="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>
                <a:lnSpc>
                  <a:spcPct val="200000"/>
                </a:lnSpc>
              </a:pPr>
              <a:r>
                <a:rPr lang="en-US" sz="1693" dirty="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: </a:t>
              </a:r>
              <a:r>
                <a:rPr lang="ko-KR" altLang="en-US" sz="1600" b="1" kern="0" spc="0" dirty="0">
                  <a:solidFill>
                    <a:schemeClr val="accent1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</a:rPr>
                <a:t>구매수량 순위</a:t>
              </a:r>
              <a:r>
                <a:rPr lang="en-US" altLang="ko-KR" sz="1600" b="1" kern="0" spc="0" dirty="0">
                  <a:solidFill>
                    <a:schemeClr val="accent1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</a:rPr>
                <a:t>(</a:t>
              </a:r>
              <a:r>
                <a:rPr lang="ko-KR" altLang="en-US" sz="1600" b="1" kern="0" spc="0" dirty="0">
                  <a:solidFill>
                    <a:schemeClr val="accent1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</a:rPr>
                <a:t>상품별</a:t>
              </a:r>
              <a:r>
                <a:rPr lang="en-US" altLang="ko-KR" sz="1600" b="1" kern="0" spc="0" dirty="0">
                  <a:solidFill>
                    <a:schemeClr val="accent1"/>
                  </a:solidFill>
                  <a:effectLst/>
                  <a:latin typeface="굴림" panose="020B0600000101010101" pitchFamily="50" charset="-127"/>
                  <a:ea typeface="굴림" panose="020B0600000101010101" pitchFamily="50" charset="-127"/>
                </a:rPr>
                <a:t>)</a:t>
              </a:r>
              <a:endParaRPr lang="ko-KR" altLang="en-US" sz="1100" b="1" kern="0" spc="0" dirty="0">
                <a:solidFill>
                  <a:schemeClr val="accent1"/>
                </a:solidFill>
                <a:effectLst/>
                <a:latin typeface="한양신명조"/>
              </a:endParaRPr>
            </a:p>
          </p:txBody>
        </p:sp>
      </p:grpSp>
      <p:pic>
        <p:nvPicPr>
          <p:cNvPr id="65" name="그림 64">
            <a:extLst>
              <a:ext uri="{FF2B5EF4-FFF2-40B4-BE49-F238E27FC236}">
                <a16:creationId xmlns:a16="http://schemas.microsoft.com/office/drawing/2014/main" id="{66D3D41C-27EE-4719-B572-9E3A74A85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091" y="1043319"/>
            <a:ext cx="677548" cy="85944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03037CB-1AD4-4F27-9DF4-0F35AF8EA8A5}"/>
              </a:ext>
            </a:extLst>
          </p:cNvPr>
          <p:cNvSpPr txBox="1"/>
          <p:nvPr/>
        </p:nvSpPr>
        <p:spPr>
          <a:xfrm>
            <a:off x="8412801" y="608919"/>
            <a:ext cx="21015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주문</a:t>
            </a:r>
            <a:r>
              <a:rPr lang="en-US" altLang="ko-KR" sz="2000" b="1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/</a:t>
            </a:r>
            <a:r>
              <a:rPr lang="ko-KR" altLang="en-US" sz="2000" b="1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구매 화면</a:t>
            </a:r>
            <a:endParaRPr lang="ko-KR" alt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626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321</Words>
  <Application>Microsoft Office PowerPoint</Application>
  <PresentationFormat>와이드스크린</PresentationFormat>
  <Paragraphs>108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Noto Sans Kr</vt:lpstr>
      <vt:lpstr>Noto Sans Kr Bold</vt:lpstr>
      <vt:lpstr>굴림</vt:lpstr>
      <vt:lpstr>맑은 고딕</vt:lpstr>
      <vt:lpstr>한양신명조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MYCOM</dc:creator>
  <cp:lastModifiedBy>MYCOM</cp:lastModifiedBy>
  <cp:revision>50</cp:revision>
  <dcterms:created xsi:type="dcterms:W3CDTF">2026-03-26T06:44:26Z</dcterms:created>
  <dcterms:modified xsi:type="dcterms:W3CDTF">2026-04-02T05:53:05Z</dcterms:modified>
</cp:coreProperties>
</file>